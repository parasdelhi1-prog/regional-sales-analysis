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447" autoAdjust="0"/>
  </p:normalViewPr>
  <p:slideViewPr>
    <p:cSldViewPr snapToGrid="0">
      <p:cViewPr varScale="1">
        <p:scale>
          <a:sx n="63" d="100"/>
          <a:sy n="63" d="100"/>
        </p:scale>
        <p:origin x="804" y="56"/>
      </p:cViewPr>
      <p:guideLst/>
    </p:cSldViewPr>
  </p:slideViewPr>
  <p:notesTextViewPr>
    <p:cViewPr>
      <p:scale>
        <a:sx n="1" d="1"/>
        <a:sy n="1" d="1"/>
      </p:scale>
      <p:origin x="0" y="0"/>
    </p:cViewPr>
  </p:notesTextViewPr>
  <p:sorterViewPr>
    <p:cViewPr>
      <p:scale>
        <a:sx n="100" d="100"/>
        <a:sy n="100" d="100"/>
      </p:scale>
      <p:origin x="0" y="-290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ras Rewariya" userId="cf527972ffad7bf0" providerId="LiveId" clId="{7F02BDC4-DF8A-4AD8-A95F-6691B8A09380}"/>
    <pc:docChg chg="undo custSel modSld">
      <pc:chgData name="Paras Rewariya" userId="cf527972ffad7bf0" providerId="LiveId" clId="{7F02BDC4-DF8A-4AD8-A95F-6691B8A09380}" dt="2026-03-18T05:49:51.587" v="350" actId="113"/>
      <pc:docMkLst>
        <pc:docMk/>
      </pc:docMkLst>
      <pc:sldChg chg="modSp mod">
        <pc:chgData name="Paras Rewariya" userId="cf527972ffad7bf0" providerId="LiveId" clId="{7F02BDC4-DF8A-4AD8-A95F-6691B8A09380}" dt="2026-03-18T05:46:36.229" v="263"/>
        <pc:sldMkLst>
          <pc:docMk/>
          <pc:sldMk cId="186320582" sldId="257"/>
        </pc:sldMkLst>
        <pc:spChg chg="mod">
          <ac:chgData name="Paras Rewariya" userId="cf527972ffad7bf0" providerId="LiveId" clId="{7F02BDC4-DF8A-4AD8-A95F-6691B8A09380}" dt="2026-03-18T05:46:36.229" v="263"/>
          <ac:spMkLst>
            <pc:docMk/>
            <pc:sldMk cId="186320582" sldId="257"/>
            <ac:spMk id="2" creationId="{99D8CC18-5CC8-1C03-83F7-F895E5FC632E}"/>
          </ac:spMkLst>
        </pc:spChg>
        <pc:spChg chg="mod">
          <ac:chgData name="Paras Rewariya" userId="cf527972ffad7bf0" providerId="LiveId" clId="{7F02BDC4-DF8A-4AD8-A95F-6691B8A09380}" dt="2026-03-18T05:46:36.229" v="263"/>
          <ac:spMkLst>
            <pc:docMk/>
            <pc:sldMk cId="186320582" sldId="257"/>
            <ac:spMk id="3" creationId="{FC9BC21E-C503-AD0A-B6C6-7CBEB108D743}"/>
          </ac:spMkLst>
        </pc:spChg>
      </pc:sldChg>
      <pc:sldChg chg="modSp mod">
        <pc:chgData name="Paras Rewariya" userId="cf527972ffad7bf0" providerId="LiveId" clId="{7F02BDC4-DF8A-4AD8-A95F-6691B8A09380}" dt="2026-03-18T05:46:41.174" v="264" actId="207"/>
        <pc:sldMkLst>
          <pc:docMk/>
          <pc:sldMk cId="2925261545" sldId="258"/>
        </pc:sldMkLst>
        <pc:spChg chg="mod">
          <ac:chgData name="Paras Rewariya" userId="cf527972ffad7bf0" providerId="LiveId" clId="{7F02BDC4-DF8A-4AD8-A95F-6691B8A09380}" dt="2026-03-18T05:46:41.174" v="264" actId="207"/>
          <ac:spMkLst>
            <pc:docMk/>
            <pc:sldMk cId="2925261545" sldId="258"/>
            <ac:spMk id="2" creationId="{C94E9352-8C51-DD51-A7E6-E86887D35B1B}"/>
          </ac:spMkLst>
        </pc:spChg>
      </pc:sldChg>
      <pc:sldChg chg="modSp mod">
        <pc:chgData name="Paras Rewariya" userId="cf527972ffad7bf0" providerId="LiveId" clId="{7F02BDC4-DF8A-4AD8-A95F-6691B8A09380}" dt="2026-03-18T05:46:59.329" v="267" actId="207"/>
        <pc:sldMkLst>
          <pc:docMk/>
          <pc:sldMk cId="2393336483" sldId="259"/>
        </pc:sldMkLst>
        <pc:spChg chg="mod">
          <ac:chgData name="Paras Rewariya" userId="cf527972ffad7bf0" providerId="LiveId" clId="{7F02BDC4-DF8A-4AD8-A95F-6691B8A09380}" dt="2026-03-18T05:46:50.450" v="265" actId="207"/>
          <ac:spMkLst>
            <pc:docMk/>
            <pc:sldMk cId="2393336483" sldId="259"/>
            <ac:spMk id="2" creationId="{6DBC7E64-EB22-6C7E-BC56-244106A53357}"/>
          </ac:spMkLst>
        </pc:spChg>
        <pc:spChg chg="mod">
          <ac:chgData name="Paras Rewariya" userId="cf527972ffad7bf0" providerId="LiveId" clId="{7F02BDC4-DF8A-4AD8-A95F-6691B8A09380}" dt="2026-03-18T05:46:55.209" v="266" actId="207"/>
          <ac:spMkLst>
            <pc:docMk/>
            <pc:sldMk cId="2393336483" sldId="259"/>
            <ac:spMk id="4" creationId="{EF786390-49C8-49E0-B426-C5157FAF1300}"/>
          </ac:spMkLst>
        </pc:spChg>
        <pc:spChg chg="mod">
          <ac:chgData name="Paras Rewariya" userId="cf527972ffad7bf0" providerId="LiveId" clId="{7F02BDC4-DF8A-4AD8-A95F-6691B8A09380}" dt="2026-03-18T05:46:59.329" v="267" actId="207"/>
          <ac:spMkLst>
            <pc:docMk/>
            <pc:sldMk cId="2393336483" sldId="259"/>
            <ac:spMk id="5" creationId="{EF786390-49C8-49E0-B426-C5157FAF1300}"/>
          </ac:spMkLst>
        </pc:spChg>
      </pc:sldChg>
      <pc:sldChg chg="modSp mod">
        <pc:chgData name="Paras Rewariya" userId="cf527972ffad7bf0" providerId="LiveId" clId="{7F02BDC4-DF8A-4AD8-A95F-6691B8A09380}" dt="2026-03-18T05:47:04.638" v="268" actId="207"/>
        <pc:sldMkLst>
          <pc:docMk/>
          <pc:sldMk cId="2388299239" sldId="260"/>
        </pc:sldMkLst>
        <pc:spChg chg="mod">
          <ac:chgData name="Paras Rewariya" userId="cf527972ffad7bf0" providerId="LiveId" clId="{7F02BDC4-DF8A-4AD8-A95F-6691B8A09380}" dt="2026-03-18T05:47:04.638" v="268" actId="207"/>
          <ac:spMkLst>
            <pc:docMk/>
            <pc:sldMk cId="2388299239" sldId="260"/>
            <ac:spMk id="2" creationId="{CD7DBB79-F4B8-033D-ECB0-44C4A74CC92C}"/>
          </ac:spMkLst>
        </pc:spChg>
        <pc:spChg chg="mod">
          <ac:chgData name="Paras Rewariya" userId="cf527972ffad7bf0" providerId="LiveId" clId="{7F02BDC4-DF8A-4AD8-A95F-6691B8A09380}" dt="2026-03-18T05:43:42.747" v="84" actId="207"/>
          <ac:spMkLst>
            <pc:docMk/>
            <pc:sldMk cId="2388299239" sldId="260"/>
            <ac:spMk id="13" creationId="{1BEB75ED-733C-42F9-A05E-32835DF6F647}"/>
          </ac:spMkLst>
        </pc:spChg>
        <pc:spChg chg="mod">
          <ac:chgData name="Paras Rewariya" userId="cf527972ffad7bf0" providerId="LiveId" clId="{7F02BDC4-DF8A-4AD8-A95F-6691B8A09380}" dt="2026-03-18T05:43:42.747" v="84" actId="207"/>
          <ac:spMkLst>
            <pc:docMk/>
            <pc:sldMk cId="2388299239" sldId="260"/>
            <ac:spMk id="23" creationId="{71449820-6234-4F87-9A9A-EF0F3A52A94B}"/>
          </ac:spMkLst>
        </pc:spChg>
        <pc:spChg chg="mod">
          <ac:chgData name="Paras Rewariya" userId="cf527972ffad7bf0" providerId="LiveId" clId="{7F02BDC4-DF8A-4AD8-A95F-6691B8A09380}" dt="2026-03-18T05:43:42.747" v="84" actId="207"/>
          <ac:spMkLst>
            <pc:docMk/>
            <pc:sldMk cId="2388299239" sldId="260"/>
            <ac:spMk id="33" creationId="{BC36FB47-425A-4D7F-B668-948636DEDBEC}"/>
          </ac:spMkLst>
        </pc:spChg>
        <pc:spChg chg="mod">
          <ac:chgData name="Paras Rewariya" userId="cf527972ffad7bf0" providerId="LiveId" clId="{7F02BDC4-DF8A-4AD8-A95F-6691B8A09380}" dt="2026-03-18T05:43:42.747" v="84" actId="207"/>
          <ac:spMkLst>
            <pc:docMk/>
            <pc:sldMk cId="2388299239" sldId="260"/>
            <ac:spMk id="42" creationId="{A23A690E-7952-4904-9432-983B4AE651EA}"/>
          </ac:spMkLst>
        </pc:spChg>
        <pc:spChg chg="mod">
          <ac:chgData name="Paras Rewariya" userId="cf527972ffad7bf0" providerId="LiveId" clId="{7F02BDC4-DF8A-4AD8-A95F-6691B8A09380}" dt="2026-03-18T05:43:42.747" v="84" actId="207"/>
          <ac:spMkLst>
            <pc:docMk/>
            <pc:sldMk cId="2388299239" sldId="260"/>
            <ac:spMk id="49" creationId="{58C717FF-EB58-44E4-BBF4-A6526FD5923D}"/>
          </ac:spMkLst>
        </pc:spChg>
        <pc:spChg chg="mod">
          <ac:chgData name="Paras Rewariya" userId="cf527972ffad7bf0" providerId="LiveId" clId="{7F02BDC4-DF8A-4AD8-A95F-6691B8A09380}" dt="2026-03-18T05:43:42.747" v="84" actId="207"/>
          <ac:spMkLst>
            <pc:docMk/>
            <pc:sldMk cId="2388299239" sldId="260"/>
            <ac:spMk id="50" creationId="{9E8E0687-529A-457D-8CB6-34EF919B1591}"/>
          </ac:spMkLst>
        </pc:spChg>
        <pc:spChg chg="mod">
          <ac:chgData name="Paras Rewariya" userId="cf527972ffad7bf0" providerId="LiveId" clId="{7F02BDC4-DF8A-4AD8-A95F-6691B8A09380}" dt="2026-03-18T05:43:42.747" v="84" actId="207"/>
          <ac:spMkLst>
            <pc:docMk/>
            <pc:sldMk cId="2388299239" sldId="260"/>
            <ac:spMk id="57" creationId="{43B06949-40E7-46B3-A568-01AB147E024F}"/>
          </ac:spMkLst>
        </pc:spChg>
        <pc:spChg chg="mod">
          <ac:chgData name="Paras Rewariya" userId="cf527972ffad7bf0" providerId="LiveId" clId="{7F02BDC4-DF8A-4AD8-A95F-6691B8A09380}" dt="2026-03-18T05:43:42.747" v="84" actId="207"/>
          <ac:spMkLst>
            <pc:docMk/>
            <pc:sldMk cId="2388299239" sldId="260"/>
            <ac:spMk id="59" creationId="{8F9BDF65-E819-465C-A638-470B5BBB1ADF}"/>
          </ac:spMkLst>
        </pc:spChg>
        <pc:spChg chg="mod">
          <ac:chgData name="Paras Rewariya" userId="cf527972ffad7bf0" providerId="LiveId" clId="{7F02BDC4-DF8A-4AD8-A95F-6691B8A09380}" dt="2026-03-18T05:43:42.747" v="84" actId="207"/>
          <ac:spMkLst>
            <pc:docMk/>
            <pc:sldMk cId="2388299239" sldId="260"/>
            <ac:spMk id="63" creationId="{C927EDD5-A3A6-4179-B14F-5B8ABC9EF74F}"/>
          </ac:spMkLst>
        </pc:spChg>
        <pc:spChg chg="mod">
          <ac:chgData name="Paras Rewariya" userId="cf527972ffad7bf0" providerId="LiveId" clId="{7F02BDC4-DF8A-4AD8-A95F-6691B8A09380}" dt="2026-03-18T05:43:42.747" v="84" actId="207"/>
          <ac:spMkLst>
            <pc:docMk/>
            <pc:sldMk cId="2388299239" sldId="260"/>
            <ac:spMk id="70" creationId="{089343E5-4B2D-4BC3-8EE0-946E05CD05D9}"/>
          </ac:spMkLst>
        </pc:spChg>
      </pc:sldChg>
      <pc:sldChg chg="modSp mod">
        <pc:chgData name="Paras Rewariya" userId="cf527972ffad7bf0" providerId="LiveId" clId="{7F02BDC4-DF8A-4AD8-A95F-6691B8A09380}" dt="2026-03-18T05:43:00.205" v="77" actId="27636"/>
        <pc:sldMkLst>
          <pc:docMk/>
          <pc:sldMk cId="1249019107" sldId="263"/>
        </pc:sldMkLst>
        <pc:spChg chg="mod">
          <ac:chgData name="Paras Rewariya" userId="cf527972ffad7bf0" providerId="LiveId" clId="{7F02BDC4-DF8A-4AD8-A95F-6691B8A09380}" dt="2026-03-18T05:43:00.205" v="77" actId="27636"/>
          <ac:spMkLst>
            <pc:docMk/>
            <pc:sldMk cId="1249019107" sldId="263"/>
            <ac:spMk id="3" creationId="{8CF44505-A005-B635-5B6A-49C05B10A294}"/>
          </ac:spMkLst>
        </pc:spChg>
      </pc:sldChg>
      <pc:sldChg chg="modSp mod">
        <pc:chgData name="Paras Rewariya" userId="cf527972ffad7bf0" providerId="LiveId" clId="{7F02BDC4-DF8A-4AD8-A95F-6691B8A09380}" dt="2026-03-18T05:43:00.231" v="78" actId="27636"/>
        <pc:sldMkLst>
          <pc:docMk/>
          <pc:sldMk cId="434233428" sldId="264"/>
        </pc:sldMkLst>
        <pc:spChg chg="mod">
          <ac:chgData name="Paras Rewariya" userId="cf527972ffad7bf0" providerId="LiveId" clId="{7F02BDC4-DF8A-4AD8-A95F-6691B8A09380}" dt="2026-03-18T05:43:00.231" v="78" actId="27636"/>
          <ac:spMkLst>
            <pc:docMk/>
            <pc:sldMk cId="434233428" sldId="264"/>
            <ac:spMk id="3" creationId="{13754767-20D9-736A-C30E-26ABEFCB64F3}"/>
          </ac:spMkLst>
        </pc:spChg>
      </pc:sldChg>
      <pc:sldChg chg="modSp mod">
        <pc:chgData name="Paras Rewariya" userId="cf527972ffad7bf0" providerId="LiveId" clId="{7F02BDC4-DF8A-4AD8-A95F-6691B8A09380}" dt="2026-03-18T05:46:36.229" v="263"/>
        <pc:sldMkLst>
          <pc:docMk/>
          <pc:sldMk cId="2816801328" sldId="265"/>
        </pc:sldMkLst>
        <pc:spChg chg="mod">
          <ac:chgData name="Paras Rewariya" userId="cf527972ffad7bf0" providerId="LiveId" clId="{7F02BDC4-DF8A-4AD8-A95F-6691B8A09380}" dt="2026-03-18T05:46:36.229" v="263"/>
          <ac:spMkLst>
            <pc:docMk/>
            <pc:sldMk cId="2816801328" sldId="265"/>
            <ac:spMk id="2" creationId="{5905299B-EB05-8AE6-6784-3EACC5E0321D}"/>
          </ac:spMkLst>
        </pc:spChg>
        <pc:picChg chg="mod">
          <ac:chgData name="Paras Rewariya" userId="cf527972ffad7bf0" providerId="LiveId" clId="{7F02BDC4-DF8A-4AD8-A95F-6691B8A09380}" dt="2026-03-18T05:44:19.310" v="150" actId="1037"/>
          <ac:picMkLst>
            <pc:docMk/>
            <pc:sldMk cId="2816801328" sldId="265"/>
            <ac:picMk id="5" creationId="{DB329B79-B106-69F0-201F-E4DB8DC5EA19}"/>
          </ac:picMkLst>
        </pc:picChg>
        <pc:picChg chg="mod">
          <ac:chgData name="Paras Rewariya" userId="cf527972ffad7bf0" providerId="LiveId" clId="{7F02BDC4-DF8A-4AD8-A95F-6691B8A09380}" dt="2026-03-18T05:44:49.079" v="249" actId="14100"/>
          <ac:picMkLst>
            <pc:docMk/>
            <pc:sldMk cId="2816801328" sldId="265"/>
            <ac:picMk id="9" creationId="{AA8A159E-4DF7-F71D-6929-327345E8042C}"/>
          </ac:picMkLst>
        </pc:picChg>
      </pc:sldChg>
      <pc:sldChg chg="modSp mod">
        <pc:chgData name="Paras Rewariya" userId="cf527972ffad7bf0" providerId="LiveId" clId="{7F02BDC4-DF8A-4AD8-A95F-6691B8A09380}" dt="2026-03-18T05:47:35.423" v="285" actId="1076"/>
        <pc:sldMkLst>
          <pc:docMk/>
          <pc:sldMk cId="263046809" sldId="266"/>
        </pc:sldMkLst>
        <pc:picChg chg="mod">
          <ac:chgData name="Paras Rewariya" userId="cf527972ffad7bf0" providerId="LiveId" clId="{7F02BDC4-DF8A-4AD8-A95F-6691B8A09380}" dt="2026-03-18T05:47:35.423" v="285" actId="1076"/>
          <ac:picMkLst>
            <pc:docMk/>
            <pc:sldMk cId="263046809" sldId="266"/>
            <ac:picMk id="9" creationId="{ABCB53C1-52F8-6A51-344C-035155D62798}"/>
          </ac:picMkLst>
        </pc:picChg>
      </pc:sldChg>
      <pc:sldChg chg="modSp mod">
        <pc:chgData name="Paras Rewariya" userId="cf527972ffad7bf0" providerId="LiveId" clId="{7F02BDC4-DF8A-4AD8-A95F-6691B8A09380}" dt="2026-03-18T05:47:53.968" v="328" actId="1036"/>
        <pc:sldMkLst>
          <pc:docMk/>
          <pc:sldMk cId="1338988731" sldId="267"/>
        </pc:sldMkLst>
        <pc:spChg chg="mod">
          <ac:chgData name="Paras Rewariya" userId="cf527972ffad7bf0" providerId="LiveId" clId="{7F02BDC4-DF8A-4AD8-A95F-6691B8A09380}" dt="2026-03-18T05:47:53.968" v="328" actId="1036"/>
          <ac:spMkLst>
            <pc:docMk/>
            <pc:sldMk cId="1338988731" sldId="267"/>
            <ac:spMk id="14" creationId="{37D46641-BEBC-946D-8ECB-6ACEC3CC5519}"/>
          </ac:spMkLst>
        </pc:spChg>
      </pc:sldChg>
      <pc:sldChg chg="modSp mod">
        <pc:chgData name="Paras Rewariya" userId="cf527972ffad7bf0" providerId="LiveId" clId="{7F02BDC4-DF8A-4AD8-A95F-6691B8A09380}" dt="2026-03-18T05:48:05.021" v="329" actId="113"/>
        <pc:sldMkLst>
          <pc:docMk/>
          <pc:sldMk cId="1056897599" sldId="269"/>
        </pc:sldMkLst>
        <pc:spChg chg="mod">
          <ac:chgData name="Paras Rewariya" userId="cf527972ffad7bf0" providerId="LiveId" clId="{7F02BDC4-DF8A-4AD8-A95F-6691B8A09380}" dt="2026-03-18T05:48:05.021" v="329" actId="113"/>
          <ac:spMkLst>
            <pc:docMk/>
            <pc:sldMk cId="1056897599" sldId="269"/>
            <ac:spMk id="5" creationId="{533FE142-A9BF-4047-853C-12E359056733}"/>
          </ac:spMkLst>
        </pc:spChg>
      </pc:sldChg>
      <pc:sldChg chg="modSp mod">
        <pc:chgData name="Paras Rewariya" userId="cf527972ffad7bf0" providerId="LiveId" clId="{7F02BDC4-DF8A-4AD8-A95F-6691B8A09380}" dt="2026-03-18T05:48:13.784" v="330" actId="113"/>
        <pc:sldMkLst>
          <pc:docMk/>
          <pc:sldMk cId="2604522105" sldId="270"/>
        </pc:sldMkLst>
        <pc:spChg chg="mod">
          <ac:chgData name="Paras Rewariya" userId="cf527972ffad7bf0" providerId="LiveId" clId="{7F02BDC4-DF8A-4AD8-A95F-6691B8A09380}" dt="2026-03-18T05:48:13.784" v="330" actId="113"/>
          <ac:spMkLst>
            <pc:docMk/>
            <pc:sldMk cId="2604522105" sldId="270"/>
            <ac:spMk id="4" creationId="{D5F37530-F693-4DEA-9195-52EBC3A2DFE9}"/>
          </ac:spMkLst>
        </pc:spChg>
      </pc:sldChg>
      <pc:sldChg chg="modSp mod">
        <pc:chgData name="Paras Rewariya" userId="cf527972ffad7bf0" providerId="LiveId" clId="{7F02BDC4-DF8A-4AD8-A95F-6691B8A09380}" dt="2026-03-18T05:48:24.237" v="331" actId="113"/>
        <pc:sldMkLst>
          <pc:docMk/>
          <pc:sldMk cId="3584951181" sldId="271"/>
        </pc:sldMkLst>
        <pc:spChg chg="mod">
          <ac:chgData name="Paras Rewariya" userId="cf527972ffad7bf0" providerId="LiveId" clId="{7F02BDC4-DF8A-4AD8-A95F-6691B8A09380}" dt="2026-03-18T05:48:24.237" v="331" actId="113"/>
          <ac:spMkLst>
            <pc:docMk/>
            <pc:sldMk cId="3584951181" sldId="271"/>
            <ac:spMk id="4" creationId="{DC1D2DAE-D83F-41B3-BA9B-429DF6D664CC}"/>
          </ac:spMkLst>
        </pc:spChg>
      </pc:sldChg>
      <pc:sldChg chg="modSp mod">
        <pc:chgData name="Paras Rewariya" userId="cf527972ffad7bf0" providerId="LiveId" clId="{7F02BDC4-DF8A-4AD8-A95F-6691B8A09380}" dt="2026-03-18T05:48:33.326" v="332" actId="113"/>
        <pc:sldMkLst>
          <pc:docMk/>
          <pc:sldMk cId="1278580993" sldId="272"/>
        </pc:sldMkLst>
        <pc:spChg chg="mod">
          <ac:chgData name="Paras Rewariya" userId="cf527972ffad7bf0" providerId="LiveId" clId="{7F02BDC4-DF8A-4AD8-A95F-6691B8A09380}" dt="2026-03-18T05:48:33.326" v="332" actId="113"/>
          <ac:spMkLst>
            <pc:docMk/>
            <pc:sldMk cId="1278580993" sldId="272"/>
            <ac:spMk id="4" creationId="{A6A7C502-D0D1-4F88-90F1-186C62EBA5B2}"/>
          </ac:spMkLst>
        </pc:spChg>
      </pc:sldChg>
      <pc:sldChg chg="modSp mod">
        <pc:chgData name="Paras Rewariya" userId="cf527972ffad7bf0" providerId="LiveId" clId="{7F02BDC4-DF8A-4AD8-A95F-6691B8A09380}" dt="2026-03-18T05:48:45.175" v="338" actId="14100"/>
        <pc:sldMkLst>
          <pc:docMk/>
          <pc:sldMk cId="3515767883" sldId="273"/>
        </pc:sldMkLst>
        <pc:spChg chg="mod">
          <ac:chgData name="Paras Rewariya" userId="cf527972ffad7bf0" providerId="LiveId" clId="{7F02BDC4-DF8A-4AD8-A95F-6691B8A09380}" dt="2026-03-18T05:48:45.175" v="338" actId="14100"/>
          <ac:spMkLst>
            <pc:docMk/>
            <pc:sldMk cId="3515767883" sldId="273"/>
            <ac:spMk id="5" creationId="{B141D559-8CD7-4408-B94F-8E88E2EC2263}"/>
          </ac:spMkLst>
        </pc:spChg>
      </pc:sldChg>
      <pc:sldChg chg="modSp mod">
        <pc:chgData name="Paras Rewariya" userId="cf527972ffad7bf0" providerId="LiveId" clId="{7F02BDC4-DF8A-4AD8-A95F-6691B8A09380}" dt="2026-03-18T05:48:54.270" v="339" actId="113"/>
        <pc:sldMkLst>
          <pc:docMk/>
          <pc:sldMk cId="638039105" sldId="274"/>
        </pc:sldMkLst>
        <pc:spChg chg="mod">
          <ac:chgData name="Paras Rewariya" userId="cf527972ffad7bf0" providerId="LiveId" clId="{7F02BDC4-DF8A-4AD8-A95F-6691B8A09380}" dt="2026-03-18T05:48:54.270" v="339" actId="113"/>
          <ac:spMkLst>
            <pc:docMk/>
            <pc:sldMk cId="638039105" sldId="274"/>
            <ac:spMk id="4" creationId="{6E04CD2A-9940-40FB-B232-1212B8ECF12B}"/>
          </ac:spMkLst>
        </pc:spChg>
      </pc:sldChg>
      <pc:sldChg chg="modSp mod">
        <pc:chgData name="Paras Rewariya" userId="cf527972ffad7bf0" providerId="LiveId" clId="{7F02BDC4-DF8A-4AD8-A95F-6691B8A09380}" dt="2026-03-18T05:49:02.087" v="340" actId="113"/>
        <pc:sldMkLst>
          <pc:docMk/>
          <pc:sldMk cId="1878300890" sldId="275"/>
        </pc:sldMkLst>
        <pc:spChg chg="mod">
          <ac:chgData name="Paras Rewariya" userId="cf527972ffad7bf0" providerId="LiveId" clId="{7F02BDC4-DF8A-4AD8-A95F-6691B8A09380}" dt="2026-03-18T05:49:02.087" v="340" actId="113"/>
          <ac:spMkLst>
            <pc:docMk/>
            <pc:sldMk cId="1878300890" sldId="275"/>
            <ac:spMk id="7" creationId="{2449E120-C251-406B-9222-741B21FC9E12}"/>
          </ac:spMkLst>
        </pc:spChg>
      </pc:sldChg>
      <pc:sldChg chg="modSp mod">
        <pc:chgData name="Paras Rewariya" userId="cf527972ffad7bf0" providerId="LiveId" clId="{7F02BDC4-DF8A-4AD8-A95F-6691B8A09380}" dt="2026-03-18T05:49:16.118" v="345" actId="14100"/>
        <pc:sldMkLst>
          <pc:docMk/>
          <pc:sldMk cId="926485436" sldId="276"/>
        </pc:sldMkLst>
        <pc:spChg chg="mod">
          <ac:chgData name="Paras Rewariya" userId="cf527972ffad7bf0" providerId="LiveId" clId="{7F02BDC4-DF8A-4AD8-A95F-6691B8A09380}" dt="2026-03-18T05:49:16.118" v="345" actId="14100"/>
          <ac:spMkLst>
            <pc:docMk/>
            <pc:sldMk cId="926485436" sldId="276"/>
            <ac:spMk id="4" creationId="{EC3F2E8A-CC3A-44EC-BB95-D0A91F6B51B8}"/>
          </ac:spMkLst>
        </pc:spChg>
      </pc:sldChg>
      <pc:sldChg chg="modSp mod">
        <pc:chgData name="Paras Rewariya" userId="cf527972ffad7bf0" providerId="LiveId" clId="{7F02BDC4-DF8A-4AD8-A95F-6691B8A09380}" dt="2026-03-18T05:49:24.144" v="346" actId="113"/>
        <pc:sldMkLst>
          <pc:docMk/>
          <pc:sldMk cId="2642134403" sldId="277"/>
        </pc:sldMkLst>
        <pc:spChg chg="mod">
          <ac:chgData name="Paras Rewariya" userId="cf527972ffad7bf0" providerId="LiveId" clId="{7F02BDC4-DF8A-4AD8-A95F-6691B8A09380}" dt="2026-03-18T05:49:24.144" v="346" actId="113"/>
          <ac:spMkLst>
            <pc:docMk/>
            <pc:sldMk cId="2642134403" sldId="277"/>
            <ac:spMk id="4" creationId="{930A99F3-207D-43B4-9CC7-150443490A66}"/>
          </ac:spMkLst>
        </pc:spChg>
      </pc:sldChg>
      <pc:sldChg chg="modSp mod">
        <pc:chgData name="Paras Rewariya" userId="cf527972ffad7bf0" providerId="LiveId" clId="{7F02BDC4-DF8A-4AD8-A95F-6691B8A09380}" dt="2026-03-18T05:45:15.900" v="251" actId="207"/>
        <pc:sldMkLst>
          <pc:docMk/>
          <pc:sldMk cId="1946661785" sldId="278"/>
        </pc:sldMkLst>
        <pc:spChg chg="mod">
          <ac:chgData name="Paras Rewariya" userId="cf527972ffad7bf0" providerId="LiveId" clId="{7F02BDC4-DF8A-4AD8-A95F-6691B8A09380}" dt="2026-03-18T05:45:15.900" v="251" actId="207"/>
          <ac:spMkLst>
            <pc:docMk/>
            <pc:sldMk cId="1946661785" sldId="278"/>
            <ac:spMk id="4" creationId="{C2890132-0527-4A5E-83E8-2C03B1F118FF}"/>
          </ac:spMkLst>
        </pc:spChg>
      </pc:sldChg>
      <pc:sldChg chg="modSp mod">
        <pc:chgData name="Paras Rewariya" userId="cf527972ffad7bf0" providerId="LiveId" clId="{7F02BDC4-DF8A-4AD8-A95F-6691B8A09380}" dt="2026-03-18T05:49:35.258" v="347" actId="113"/>
        <pc:sldMkLst>
          <pc:docMk/>
          <pc:sldMk cId="3356727659" sldId="279"/>
        </pc:sldMkLst>
        <pc:spChg chg="mod">
          <ac:chgData name="Paras Rewariya" userId="cf527972ffad7bf0" providerId="LiveId" clId="{7F02BDC4-DF8A-4AD8-A95F-6691B8A09380}" dt="2026-03-18T05:45:24.905" v="252" actId="207"/>
          <ac:spMkLst>
            <pc:docMk/>
            <pc:sldMk cId="3356727659" sldId="279"/>
            <ac:spMk id="7" creationId="{ED0C87C7-157B-16B5-0769-AEBC03EE9F24}"/>
          </ac:spMkLst>
        </pc:spChg>
        <pc:spChg chg="mod">
          <ac:chgData name="Paras Rewariya" userId="cf527972ffad7bf0" providerId="LiveId" clId="{7F02BDC4-DF8A-4AD8-A95F-6691B8A09380}" dt="2026-03-18T05:49:35.258" v="347" actId="113"/>
          <ac:spMkLst>
            <pc:docMk/>
            <pc:sldMk cId="3356727659" sldId="279"/>
            <ac:spMk id="8" creationId="{2E78C0E6-E39C-48C6-A8B1-C7670646DFC4}"/>
          </ac:spMkLst>
        </pc:spChg>
      </pc:sldChg>
      <pc:sldChg chg="modSp mod">
        <pc:chgData name="Paras Rewariya" userId="cf527972ffad7bf0" providerId="LiveId" clId="{7F02BDC4-DF8A-4AD8-A95F-6691B8A09380}" dt="2026-03-18T05:49:43.218" v="348" actId="113"/>
        <pc:sldMkLst>
          <pc:docMk/>
          <pc:sldMk cId="4130781767" sldId="280"/>
        </pc:sldMkLst>
        <pc:spChg chg="mod">
          <ac:chgData name="Paras Rewariya" userId="cf527972ffad7bf0" providerId="LiveId" clId="{7F02BDC4-DF8A-4AD8-A95F-6691B8A09380}" dt="2026-03-18T05:41:09.225" v="29" actId="1076"/>
          <ac:spMkLst>
            <pc:docMk/>
            <pc:sldMk cId="4130781767" sldId="280"/>
            <ac:spMk id="4" creationId="{D5B6FBBD-6183-F312-5C44-BD793BC4D14A}"/>
          </ac:spMkLst>
        </pc:spChg>
        <pc:spChg chg="mod">
          <ac:chgData name="Paras Rewariya" userId="cf527972ffad7bf0" providerId="LiveId" clId="{7F02BDC4-DF8A-4AD8-A95F-6691B8A09380}" dt="2026-03-18T05:49:43.218" v="348" actId="113"/>
          <ac:spMkLst>
            <pc:docMk/>
            <pc:sldMk cId="4130781767" sldId="280"/>
            <ac:spMk id="6" creationId="{1C55A01C-843F-4AB1-832A-9588865749DE}"/>
          </ac:spMkLst>
        </pc:spChg>
        <pc:picChg chg="mod">
          <ac:chgData name="Paras Rewariya" userId="cf527972ffad7bf0" providerId="LiveId" clId="{7F02BDC4-DF8A-4AD8-A95F-6691B8A09380}" dt="2026-03-18T05:41:21.286" v="70" actId="1035"/>
          <ac:picMkLst>
            <pc:docMk/>
            <pc:sldMk cId="4130781767" sldId="280"/>
            <ac:picMk id="10" creationId="{13FE0E54-09C9-BC3E-0B3C-355347818E4C}"/>
          </ac:picMkLst>
        </pc:picChg>
      </pc:sldChg>
      <pc:sldChg chg="modSp mod">
        <pc:chgData name="Paras Rewariya" userId="cf527972ffad7bf0" providerId="LiveId" clId="{7F02BDC4-DF8A-4AD8-A95F-6691B8A09380}" dt="2026-03-18T05:49:47.507" v="349" actId="113"/>
        <pc:sldMkLst>
          <pc:docMk/>
          <pc:sldMk cId="4268450737" sldId="281"/>
        </pc:sldMkLst>
        <pc:spChg chg="mod">
          <ac:chgData name="Paras Rewariya" userId="cf527972ffad7bf0" providerId="LiveId" clId="{7F02BDC4-DF8A-4AD8-A95F-6691B8A09380}" dt="2026-03-18T05:49:47.507" v="349" actId="113"/>
          <ac:spMkLst>
            <pc:docMk/>
            <pc:sldMk cId="4268450737" sldId="281"/>
            <ac:spMk id="4" creationId="{1C55A01C-843F-4AB1-832A-9588865749DE}"/>
          </ac:spMkLst>
        </pc:spChg>
        <pc:picChg chg="mod">
          <ac:chgData name="Paras Rewariya" userId="cf527972ffad7bf0" providerId="LiveId" clId="{7F02BDC4-DF8A-4AD8-A95F-6691B8A09380}" dt="2026-03-18T05:40:53.120" v="27" actId="1035"/>
          <ac:picMkLst>
            <pc:docMk/>
            <pc:sldMk cId="4268450737" sldId="281"/>
            <ac:picMk id="6" creationId="{C4732DBE-C5FF-5AA8-C7FF-242652930B61}"/>
          </ac:picMkLst>
        </pc:picChg>
      </pc:sldChg>
      <pc:sldChg chg="modSp mod">
        <pc:chgData name="Paras Rewariya" userId="cf527972ffad7bf0" providerId="LiveId" clId="{7F02BDC4-DF8A-4AD8-A95F-6691B8A09380}" dt="2026-03-18T05:49:51.587" v="350" actId="113"/>
        <pc:sldMkLst>
          <pc:docMk/>
          <pc:sldMk cId="1177539456" sldId="282"/>
        </pc:sldMkLst>
        <pc:spChg chg="mod">
          <ac:chgData name="Paras Rewariya" userId="cf527972ffad7bf0" providerId="LiveId" clId="{7F02BDC4-DF8A-4AD8-A95F-6691B8A09380}" dt="2026-03-18T05:49:51.587" v="350" actId="113"/>
          <ac:spMkLst>
            <pc:docMk/>
            <pc:sldMk cId="1177539456" sldId="282"/>
            <ac:spMk id="4" creationId="{1C55A01C-843F-4AB1-832A-9588865749D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F07FC2-5641-4B7C-8325-C7816192F030}" type="datetimeFigureOut">
              <a:rPr lang="en-US" smtClean="0"/>
              <a:t>3/18/2026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366EFA-1A28-4C6E-8EC0-8DA9047EFAC8}" type="slidenum">
              <a:rPr lang="en-US" smtClean="0"/>
              <a:t>‹#›</a:t>
            </a:fld>
            <a:endParaRPr lang="en-US"/>
          </a:p>
        </p:txBody>
      </p:sp>
    </p:spTree>
    <p:extLst>
      <p:ext uri="{BB962C8B-B14F-4D97-AF65-F5344CB8AC3E}">
        <p14:creationId xmlns:p14="http://schemas.microsoft.com/office/powerpoint/2010/main" val="3283286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366EFA-1A28-4C6E-8EC0-8DA9047EFAC8}" type="slidenum">
              <a:rPr lang="en-US" smtClean="0"/>
              <a:t>11</a:t>
            </a:fld>
            <a:endParaRPr lang="en-US"/>
          </a:p>
        </p:txBody>
      </p:sp>
    </p:spTree>
    <p:extLst>
      <p:ext uri="{BB962C8B-B14F-4D97-AF65-F5344CB8AC3E}">
        <p14:creationId xmlns:p14="http://schemas.microsoft.com/office/powerpoint/2010/main" val="2625951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2EBD27A-E043-4EAB-B05A-57E7C86C33AD}"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9C391C-D3F2-4230-992B-B03125C29C5B}" type="slidenum">
              <a:rPr lang="en-US" smtClean="0"/>
              <a:t>‹#›</a:t>
            </a:fld>
            <a:endParaRPr lang="en-US"/>
          </a:p>
        </p:txBody>
      </p:sp>
    </p:spTree>
    <p:extLst>
      <p:ext uri="{BB962C8B-B14F-4D97-AF65-F5344CB8AC3E}">
        <p14:creationId xmlns:p14="http://schemas.microsoft.com/office/powerpoint/2010/main" val="2396522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EBD27A-E043-4EAB-B05A-57E7C86C33AD}"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9C391C-D3F2-4230-992B-B03125C29C5B}" type="slidenum">
              <a:rPr lang="en-US" smtClean="0"/>
              <a:t>‹#›</a:t>
            </a:fld>
            <a:endParaRPr lang="en-US"/>
          </a:p>
        </p:txBody>
      </p:sp>
    </p:spTree>
    <p:extLst>
      <p:ext uri="{BB962C8B-B14F-4D97-AF65-F5344CB8AC3E}">
        <p14:creationId xmlns:p14="http://schemas.microsoft.com/office/powerpoint/2010/main" val="20825380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EBD27A-E043-4EAB-B05A-57E7C86C33AD}"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9C391C-D3F2-4230-992B-B03125C29C5B}" type="slidenum">
              <a:rPr lang="en-US" smtClean="0"/>
              <a:t>‹#›</a:t>
            </a:fld>
            <a:endParaRPr lang="en-US"/>
          </a:p>
        </p:txBody>
      </p:sp>
    </p:spTree>
    <p:extLst>
      <p:ext uri="{BB962C8B-B14F-4D97-AF65-F5344CB8AC3E}">
        <p14:creationId xmlns:p14="http://schemas.microsoft.com/office/powerpoint/2010/main" val="2314882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2EBD27A-E043-4EAB-B05A-57E7C86C33AD}"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9C391C-D3F2-4230-992B-B03125C29C5B}" type="slidenum">
              <a:rPr lang="en-US" smtClean="0"/>
              <a:t>‹#›</a:t>
            </a:fld>
            <a:endParaRPr lang="en-US"/>
          </a:p>
        </p:txBody>
      </p:sp>
    </p:spTree>
    <p:extLst>
      <p:ext uri="{BB962C8B-B14F-4D97-AF65-F5344CB8AC3E}">
        <p14:creationId xmlns:p14="http://schemas.microsoft.com/office/powerpoint/2010/main" val="2522332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2EBD27A-E043-4EAB-B05A-57E7C86C33AD}" type="datetimeFigureOut">
              <a:rPr lang="en-US" smtClean="0"/>
              <a:t>3/17/2026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29C391C-D3F2-4230-992B-B03125C29C5B}" type="slidenum">
              <a:rPr lang="en-US" smtClean="0"/>
              <a:t>‹#›</a:t>
            </a:fld>
            <a:endParaRPr lang="en-US"/>
          </a:p>
        </p:txBody>
      </p:sp>
    </p:spTree>
    <p:extLst>
      <p:ext uri="{BB962C8B-B14F-4D97-AF65-F5344CB8AC3E}">
        <p14:creationId xmlns:p14="http://schemas.microsoft.com/office/powerpoint/2010/main" val="442084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2EBD27A-E043-4EAB-B05A-57E7C86C33AD}" type="datetimeFigureOut">
              <a:rPr lang="en-US" smtClean="0"/>
              <a:t>3/17/2026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29C391C-D3F2-4230-992B-B03125C29C5B}" type="slidenum">
              <a:rPr lang="en-US" smtClean="0"/>
              <a:t>‹#›</a:t>
            </a:fld>
            <a:endParaRPr lang="en-US"/>
          </a:p>
        </p:txBody>
      </p:sp>
    </p:spTree>
    <p:extLst>
      <p:ext uri="{BB962C8B-B14F-4D97-AF65-F5344CB8AC3E}">
        <p14:creationId xmlns:p14="http://schemas.microsoft.com/office/powerpoint/2010/main" val="3438729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EBD27A-E043-4EAB-B05A-57E7C86C33AD}" type="datetimeFigureOut">
              <a:rPr lang="en-US" smtClean="0"/>
              <a:t>3/17/2026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29C391C-D3F2-4230-992B-B03125C29C5B}" type="slidenum">
              <a:rPr lang="en-US" smtClean="0"/>
              <a:t>‹#›</a:t>
            </a:fld>
            <a:endParaRPr lang="en-US"/>
          </a:p>
        </p:txBody>
      </p:sp>
    </p:spTree>
    <p:extLst>
      <p:ext uri="{BB962C8B-B14F-4D97-AF65-F5344CB8AC3E}">
        <p14:creationId xmlns:p14="http://schemas.microsoft.com/office/powerpoint/2010/main" val="15770641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2EBD27A-E043-4EAB-B05A-57E7C86C33AD}"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9C391C-D3F2-4230-992B-B03125C29C5B}" type="slidenum">
              <a:rPr lang="en-US" smtClean="0"/>
              <a:t>‹#›</a:t>
            </a:fld>
            <a:endParaRPr lang="en-US"/>
          </a:p>
        </p:txBody>
      </p:sp>
    </p:spTree>
    <p:extLst>
      <p:ext uri="{BB962C8B-B14F-4D97-AF65-F5344CB8AC3E}">
        <p14:creationId xmlns:p14="http://schemas.microsoft.com/office/powerpoint/2010/main" val="3991463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2EBD27A-E043-4EAB-B05A-57E7C86C33AD}"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9C391C-D3F2-4230-992B-B03125C29C5B}" type="slidenum">
              <a:rPr lang="en-US" smtClean="0"/>
              <a:t>‹#›</a:t>
            </a:fld>
            <a:endParaRPr lang="en-US"/>
          </a:p>
        </p:txBody>
      </p:sp>
    </p:spTree>
    <p:extLst>
      <p:ext uri="{BB962C8B-B14F-4D97-AF65-F5344CB8AC3E}">
        <p14:creationId xmlns:p14="http://schemas.microsoft.com/office/powerpoint/2010/main" val="1845137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EBD27A-E043-4EAB-B05A-57E7C86C33AD}"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9C391C-D3F2-4230-992B-B03125C29C5B}" type="slidenum">
              <a:rPr lang="en-US" smtClean="0"/>
              <a:t>‹#›</a:t>
            </a:fld>
            <a:endParaRPr lang="en-US"/>
          </a:p>
        </p:txBody>
      </p:sp>
    </p:spTree>
    <p:extLst>
      <p:ext uri="{BB962C8B-B14F-4D97-AF65-F5344CB8AC3E}">
        <p14:creationId xmlns:p14="http://schemas.microsoft.com/office/powerpoint/2010/main" val="2907887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EBD27A-E043-4EAB-B05A-57E7C86C33AD}"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9C391C-D3F2-4230-992B-B03125C29C5B}" type="slidenum">
              <a:rPr lang="en-US" smtClean="0"/>
              <a:t>‹#›</a:t>
            </a:fld>
            <a:endParaRPr lang="en-US"/>
          </a:p>
        </p:txBody>
      </p:sp>
    </p:spTree>
    <p:extLst>
      <p:ext uri="{BB962C8B-B14F-4D97-AF65-F5344CB8AC3E}">
        <p14:creationId xmlns:p14="http://schemas.microsoft.com/office/powerpoint/2010/main" val="3275256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EBD27A-E043-4EAB-B05A-57E7C86C33AD}" type="datetimeFigureOut">
              <a:rPr lang="en-US" smtClean="0"/>
              <a:t>3/17/2026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9C391C-D3F2-4230-992B-B03125C29C5B}" type="slidenum">
              <a:rPr lang="en-US" smtClean="0"/>
              <a:t>‹#›</a:t>
            </a:fld>
            <a:endParaRPr lang="en-US"/>
          </a:p>
        </p:txBody>
      </p:sp>
    </p:spTree>
    <p:extLst>
      <p:ext uri="{BB962C8B-B14F-4D97-AF65-F5344CB8AC3E}">
        <p14:creationId xmlns:p14="http://schemas.microsoft.com/office/powerpoint/2010/main" val="2697621811"/>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D8AEF1-AB25-9F56-50A0-7D20F9BAB9B8}"/>
              </a:ext>
            </a:extLst>
          </p:cNvPr>
          <p:cNvSpPr>
            <a:spLocks noGrp="1"/>
          </p:cNvSpPr>
          <p:nvPr>
            <p:ph type="ctrTitle"/>
          </p:nvPr>
        </p:nvSpPr>
        <p:spPr>
          <a:xfrm>
            <a:off x="1251858" y="1436913"/>
            <a:ext cx="9144000" cy="2079171"/>
          </a:xfrm>
        </p:spPr>
        <p:txBody>
          <a:bodyPr/>
          <a:lstStyle/>
          <a:p>
            <a:r>
              <a:rPr lang="en-US" b="1" dirty="0">
                <a:latin typeface="+mn-lt"/>
              </a:rPr>
              <a:t>Regional Sales Analysis</a:t>
            </a:r>
          </a:p>
        </p:txBody>
      </p:sp>
      <p:sp>
        <p:nvSpPr>
          <p:cNvPr id="3" name="Subtitle 2">
            <a:extLst>
              <a:ext uri="{FF2B5EF4-FFF2-40B4-BE49-F238E27FC236}">
                <a16:creationId xmlns:a16="http://schemas.microsoft.com/office/drawing/2014/main" id="{9594399D-8E8E-0472-4B56-9C61B3C5DDE0}"/>
              </a:ext>
            </a:extLst>
          </p:cNvPr>
          <p:cNvSpPr>
            <a:spLocks noGrp="1"/>
          </p:cNvSpPr>
          <p:nvPr>
            <p:ph type="subTitle" idx="1"/>
          </p:nvPr>
        </p:nvSpPr>
        <p:spPr>
          <a:xfrm>
            <a:off x="315687" y="751114"/>
            <a:ext cx="11070770" cy="4833257"/>
          </a:xfrm>
        </p:spPr>
        <p:txBody>
          <a:bodyPr/>
          <a:lstStyle/>
          <a:p>
            <a:endParaRPr lang="en-US" dirty="0"/>
          </a:p>
        </p:txBody>
      </p:sp>
    </p:spTree>
    <p:extLst>
      <p:ext uri="{BB962C8B-B14F-4D97-AF65-F5344CB8AC3E}">
        <p14:creationId xmlns:p14="http://schemas.microsoft.com/office/powerpoint/2010/main" val="29517752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8CC18-5CC8-1C03-83F7-F895E5FC632E}"/>
              </a:ext>
            </a:extLst>
          </p:cNvPr>
          <p:cNvSpPr>
            <a:spLocks noGrp="1"/>
          </p:cNvSpPr>
          <p:nvPr>
            <p:ph type="title"/>
          </p:nvPr>
        </p:nvSpPr>
        <p:spPr/>
        <p:txBody>
          <a:bodyPr/>
          <a:lstStyle/>
          <a:p>
            <a:r>
              <a:rPr lang="en-US" b="1" dirty="0"/>
              <a:t>Outline</a:t>
            </a:r>
          </a:p>
        </p:txBody>
      </p:sp>
      <p:sp>
        <p:nvSpPr>
          <p:cNvPr id="3" name="Content Placeholder 2">
            <a:extLst>
              <a:ext uri="{FF2B5EF4-FFF2-40B4-BE49-F238E27FC236}">
                <a16:creationId xmlns:a16="http://schemas.microsoft.com/office/drawing/2014/main" id="{FC9BC21E-C503-AD0A-B6C6-7CBEB108D743}"/>
              </a:ext>
            </a:extLst>
          </p:cNvPr>
          <p:cNvSpPr>
            <a:spLocks noGrp="1"/>
          </p:cNvSpPr>
          <p:nvPr>
            <p:ph idx="1"/>
          </p:nvPr>
        </p:nvSpPr>
        <p:spPr/>
        <p:txBody>
          <a:bodyPr>
            <a:normAutofit/>
          </a:bodyPr>
          <a:lstStyle/>
          <a:p>
            <a:pPr>
              <a:buFont typeface="Wingdings" panose="05000000000000000000" pitchFamily="2" charset="2"/>
              <a:buChar char="§"/>
            </a:pPr>
            <a:r>
              <a:rPr lang="en-US" dirty="0"/>
              <a:t>Problem Statement </a:t>
            </a:r>
          </a:p>
          <a:p>
            <a:pPr>
              <a:buFont typeface="Wingdings" panose="05000000000000000000" pitchFamily="2" charset="2"/>
              <a:buChar char="§"/>
            </a:pPr>
            <a:r>
              <a:rPr lang="en-US" dirty="0"/>
              <a:t>Approach</a:t>
            </a:r>
          </a:p>
          <a:p>
            <a:pPr>
              <a:buFont typeface="Wingdings" panose="05000000000000000000" pitchFamily="2" charset="2"/>
              <a:buChar char="§"/>
            </a:pPr>
            <a:r>
              <a:rPr lang="en-US" dirty="0"/>
              <a:t>Data Overview </a:t>
            </a:r>
          </a:p>
          <a:p>
            <a:pPr>
              <a:buFont typeface="Wingdings" panose="05000000000000000000" pitchFamily="2" charset="2"/>
              <a:buChar char="§"/>
            </a:pPr>
            <a:r>
              <a:rPr lang="en-US" dirty="0"/>
              <a:t>Project Workflow</a:t>
            </a:r>
          </a:p>
          <a:p>
            <a:pPr>
              <a:buFont typeface="Wingdings" panose="05000000000000000000" pitchFamily="2" charset="2"/>
              <a:buChar char="§"/>
            </a:pPr>
            <a:r>
              <a:rPr lang="en-US" dirty="0"/>
              <a:t>Exploratory Data Analysis</a:t>
            </a:r>
          </a:p>
          <a:p>
            <a:pPr>
              <a:buFont typeface="Wingdings" panose="05000000000000000000" pitchFamily="2" charset="2"/>
              <a:buChar char="§"/>
            </a:pPr>
            <a:r>
              <a:rPr lang="en-US" dirty="0"/>
              <a:t>Keu insights</a:t>
            </a:r>
          </a:p>
          <a:p>
            <a:pPr>
              <a:buFont typeface="Wingdings" panose="05000000000000000000" pitchFamily="2" charset="2"/>
              <a:buChar char="§"/>
            </a:pPr>
            <a:r>
              <a:rPr lang="en-US" dirty="0"/>
              <a:t>Recommendation</a:t>
            </a:r>
          </a:p>
          <a:p>
            <a:pPr>
              <a:buFont typeface="Wingdings" panose="05000000000000000000" pitchFamily="2" charset="2"/>
              <a:buChar char="§"/>
            </a:pPr>
            <a:r>
              <a:rPr lang="en-US" dirty="0"/>
              <a:t>Dashboard Preview</a:t>
            </a:r>
          </a:p>
        </p:txBody>
      </p:sp>
    </p:spTree>
    <p:extLst>
      <p:ext uri="{BB962C8B-B14F-4D97-AF65-F5344CB8AC3E}">
        <p14:creationId xmlns:p14="http://schemas.microsoft.com/office/powerpoint/2010/main" val="1863205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E9352-8C51-DD51-A7E6-E86887D35B1B}"/>
              </a:ext>
            </a:extLst>
          </p:cNvPr>
          <p:cNvSpPr>
            <a:spLocks noGrp="1"/>
          </p:cNvSpPr>
          <p:nvPr>
            <p:ph type="title"/>
          </p:nvPr>
        </p:nvSpPr>
        <p:spPr>
          <a:xfrm>
            <a:off x="1" y="-48680"/>
            <a:ext cx="12192000" cy="1289651"/>
          </a:xfrm>
          <a:solidFill>
            <a:schemeClr val="accent6">
              <a:lumMod val="20000"/>
              <a:lumOff val="80000"/>
            </a:schemeClr>
          </a:solidFill>
        </p:spPr>
        <p:txBody>
          <a:bodyPr/>
          <a:lstStyle/>
          <a:p>
            <a:r>
              <a:rPr lang="en-US" sz="4800" b="1" dirty="0"/>
              <a:t>Problem Statement</a:t>
            </a:r>
            <a:endParaRPr lang="en-US" b="1" dirty="0"/>
          </a:p>
        </p:txBody>
      </p:sp>
      <p:sp>
        <p:nvSpPr>
          <p:cNvPr id="4" name="TextBox 3">
            <a:extLst>
              <a:ext uri="{FF2B5EF4-FFF2-40B4-BE49-F238E27FC236}">
                <a16:creationId xmlns:a16="http://schemas.microsoft.com/office/drawing/2014/main" id="{2A0B6941-0912-08CE-912F-A90C9ED9FE2C}"/>
              </a:ext>
            </a:extLst>
          </p:cNvPr>
          <p:cNvSpPr txBox="1"/>
          <p:nvPr/>
        </p:nvSpPr>
        <p:spPr>
          <a:xfrm>
            <a:off x="0" y="1518251"/>
            <a:ext cx="12627428" cy="1015663"/>
          </a:xfrm>
          <a:prstGeom prst="rect">
            <a:avLst/>
          </a:prstGeom>
          <a:noFill/>
        </p:spPr>
        <p:txBody>
          <a:bodyPr wrap="square" rtlCol="0">
            <a:spAutoFit/>
          </a:bodyPr>
          <a:lstStyle/>
          <a:p>
            <a:r>
              <a:rPr lang="en-US" sz="2000" dirty="0">
                <a:effectLst/>
              </a:rPr>
              <a:t>Sales teams often don’t have a clear picture of how each region is performing. This makes it hard to spot growth opportunities and use resources wisely. The project will study and show regional sales data to reveal trends, check profitability, and help in better decision-making.</a:t>
            </a:r>
            <a:endParaRPr lang="en-US" sz="2000" dirty="0"/>
          </a:p>
        </p:txBody>
      </p:sp>
      <p:sp>
        <p:nvSpPr>
          <p:cNvPr id="5" name="TextBox 4">
            <a:extLst>
              <a:ext uri="{FF2B5EF4-FFF2-40B4-BE49-F238E27FC236}">
                <a16:creationId xmlns:a16="http://schemas.microsoft.com/office/drawing/2014/main" id="{8E1CE3EF-41A7-55D6-1973-4A65954F556E}"/>
              </a:ext>
            </a:extLst>
          </p:cNvPr>
          <p:cNvSpPr txBox="1"/>
          <p:nvPr/>
        </p:nvSpPr>
        <p:spPr>
          <a:xfrm>
            <a:off x="87082" y="2914078"/>
            <a:ext cx="6041572" cy="461665"/>
          </a:xfrm>
          <a:prstGeom prst="rect">
            <a:avLst/>
          </a:prstGeom>
          <a:noFill/>
        </p:spPr>
        <p:txBody>
          <a:bodyPr wrap="square" rtlCol="0">
            <a:spAutoFit/>
          </a:bodyPr>
          <a:lstStyle/>
          <a:p>
            <a:r>
              <a:rPr lang="en-IN" sz="2400" b="1" dirty="0"/>
              <a:t>What’s the Business Question?</a:t>
            </a:r>
            <a:endParaRPr lang="en-IN" b="1" dirty="0"/>
          </a:p>
        </p:txBody>
      </p:sp>
      <p:sp>
        <p:nvSpPr>
          <p:cNvPr id="7" name="TextBox 6">
            <a:extLst>
              <a:ext uri="{FF2B5EF4-FFF2-40B4-BE49-F238E27FC236}">
                <a16:creationId xmlns:a16="http://schemas.microsoft.com/office/drawing/2014/main" id="{C1D1A2C5-A49A-7666-6990-C6963DBE95E8}"/>
              </a:ext>
            </a:extLst>
          </p:cNvPr>
          <p:cNvSpPr txBox="1"/>
          <p:nvPr/>
        </p:nvSpPr>
        <p:spPr>
          <a:xfrm>
            <a:off x="87082" y="3561026"/>
            <a:ext cx="11255833" cy="2130583"/>
          </a:xfrm>
          <a:prstGeom prst="rect">
            <a:avLst/>
          </a:prstGeom>
          <a:noFill/>
        </p:spPr>
        <p:txBody>
          <a:bodyPr wrap="square">
            <a:spAutoFit/>
          </a:bodyPr>
          <a:lstStyle/>
          <a:p>
            <a:pPr marL="425450" marR="0" lvl="0" indent="-285750" algn="l" rtl="0">
              <a:lnSpc>
                <a:spcPct val="150000"/>
              </a:lnSpc>
              <a:spcBef>
                <a:spcPts val="0"/>
              </a:spcBef>
              <a:spcAft>
                <a:spcPts val="0"/>
              </a:spcAft>
              <a:buClr>
                <a:schemeClr val="dk1"/>
              </a:buClr>
              <a:buSzPts val="1400"/>
              <a:buFont typeface="Wingdings" panose="05000000000000000000" pitchFamily="2" charset="2"/>
              <a:buChar char="v"/>
            </a:pPr>
            <a:r>
              <a:rPr lang="en-US" sz="1800" dirty="0">
                <a:effectLst/>
                <a:latin typeface="Poppins" panose="020B0604020202020204" charset="0"/>
                <a:cs typeface="Poppins" panose="020B0604020202020204" charset="0"/>
              </a:rPr>
              <a:t>Inconsistent revenue and profit performance across U.S. regions</a:t>
            </a:r>
          </a:p>
          <a:p>
            <a:pPr marL="425450" marR="0" lvl="0" indent="-285750" algn="l" rtl="0">
              <a:lnSpc>
                <a:spcPct val="150000"/>
              </a:lnSpc>
              <a:spcBef>
                <a:spcPts val="0"/>
              </a:spcBef>
              <a:spcAft>
                <a:spcPts val="0"/>
              </a:spcAft>
              <a:buClr>
                <a:schemeClr val="dk1"/>
              </a:buClr>
              <a:buSzPts val="1400"/>
              <a:buFont typeface="Wingdings" panose="05000000000000000000" pitchFamily="2" charset="2"/>
              <a:buChar char="v"/>
            </a:pPr>
            <a:endParaRPr lang="en-US" sz="1800" dirty="0">
              <a:effectLst/>
              <a:latin typeface="Poppins" panose="020B0604020202020204" charset="0"/>
              <a:cs typeface="Poppins" panose="020B0604020202020204" charset="0"/>
            </a:endParaRPr>
          </a:p>
          <a:p>
            <a:pPr marL="425450" marR="0" lvl="0" indent="-285750" algn="l" rtl="0">
              <a:lnSpc>
                <a:spcPct val="150000"/>
              </a:lnSpc>
              <a:spcBef>
                <a:spcPts val="0"/>
              </a:spcBef>
              <a:spcAft>
                <a:spcPts val="0"/>
              </a:spcAft>
              <a:buClr>
                <a:schemeClr val="dk1"/>
              </a:buClr>
              <a:buSzPts val="1400"/>
              <a:buFont typeface="Wingdings" panose="05000000000000000000" pitchFamily="2" charset="2"/>
              <a:buChar char="v"/>
            </a:pPr>
            <a:r>
              <a:rPr lang="en-US" sz="1800" dirty="0">
                <a:effectLst/>
                <a:latin typeface="Poppins" panose="020B0604020202020204" charset="0"/>
                <a:cs typeface="Poppins" panose="020B0604020202020204" charset="0"/>
              </a:rPr>
              <a:t>Lack of visibility into seasonal swings, top SKUs, and channel profitability</a:t>
            </a:r>
          </a:p>
          <a:p>
            <a:pPr marL="425450" marR="0" lvl="0" indent="-285750" algn="l" rtl="0">
              <a:lnSpc>
                <a:spcPct val="150000"/>
              </a:lnSpc>
              <a:spcBef>
                <a:spcPts val="0"/>
              </a:spcBef>
              <a:spcAft>
                <a:spcPts val="0"/>
              </a:spcAft>
              <a:buClr>
                <a:schemeClr val="dk1"/>
              </a:buClr>
              <a:buSzPts val="1400"/>
              <a:buFont typeface="Wingdings" panose="05000000000000000000" pitchFamily="2" charset="2"/>
              <a:buChar char="v"/>
            </a:pPr>
            <a:endParaRPr lang="en-US" sz="1800" dirty="0">
              <a:effectLst/>
              <a:latin typeface="Poppins" panose="020B0604020202020204" charset="0"/>
              <a:cs typeface="Poppins" panose="020B0604020202020204" charset="0"/>
            </a:endParaRPr>
          </a:p>
          <a:p>
            <a:pPr marL="425450" marR="0" lvl="0" indent="-285750" algn="l" rtl="0">
              <a:lnSpc>
                <a:spcPct val="150000"/>
              </a:lnSpc>
              <a:spcBef>
                <a:spcPts val="0"/>
              </a:spcBef>
              <a:spcAft>
                <a:spcPts val="0"/>
              </a:spcAft>
              <a:buClr>
                <a:schemeClr val="dk1"/>
              </a:buClr>
              <a:buSzPts val="1400"/>
              <a:buFont typeface="Wingdings" panose="05000000000000000000" pitchFamily="2" charset="2"/>
              <a:buChar char="v"/>
            </a:pPr>
            <a:r>
              <a:rPr lang="en-US" sz="1800" dirty="0">
                <a:effectLst/>
                <a:latin typeface="Poppins" panose="020B0604020202020204" charset="0"/>
                <a:cs typeface="Poppins" panose="020B0604020202020204" charset="0"/>
              </a:rPr>
              <a:t>Goal: Leverage 5 years of historical data to pinpoint growth levers and optimize strategy</a:t>
            </a:r>
            <a:endParaRPr lang="en-US" sz="1800" b="0" i="0" u="none" strike="noStrike" cap="none" dirty="0">
              <a:solidFill>
                <a:srgbClr val="4D5156"/>
              </a:solidFill>
              <a:highlight>
                <a:srgbClr val="FFFFFF"/>
              </a:highlight>
              <a:latin typeface="Poppins" panose="020B0604020202020204" charset="0"/>
              <a:ea typeface="Poppins"/>
              <a:cs typeface="Poppins" panose="020B0604020202020204" charset="0"/>
              <a:sym typeface="Poppins"/>
            </a:endParaRPr>
          </a:p>
        </p:txBody>
      </p:sp>
    </p:spTree>
    <p:extLst>
      <p:ext uri="{BB962C8B-B14F-4D97-AF65-F5344CB8AC3E}">
        <p14:creationId xmlns:p14="http://schemas.microsoft.com/office/powerpoint/2010/main" val="2925261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C7E64-EB22-6C7E-BC56-244106A53357}"/>
              </a:ext>
            </a:extLst>
          </p:cNvPr>
          <p:cNvSpPr>
            <a:spLocks noGrp="1"/>
          </p:cNvSpPr>
          <p:nvPr>
            <p:ph type="title"/>
          </p:nvPr>
        </p:nvSpPr>
        <p:spPr>
          <a:xfrm>
            <a:off x="0" y="1"/>
            <a:ext cx="12192000" cy="1225634"/>
          </a:xfrm>
          <a:solidFill>
            <a:schemeClr val="accent6">
              <a:lumMod val="20000"/>
              <a:lumOff val="80000"/>
            </a:schemeClr>
          </a:solidFill>
        </p:spPr>
        <p:txBody>
          <a:bodyPr/>
          <a:lstStyle/>
          <a:p>
            <a:r>
              <a:rPr lang="en-US" sz="4800" b="1" dirty="0"/>
              <a:t>Approach</a:t>
            </a:r>
            <a:r>
              <a:rPr lang="en-US" dirty="0">
                <a:solidFill>
                  <a:schemeClr val="bg1"/>
                </a:solidFill>
              </a:rPr>
              <a:t> </a:t>
            </a:r>
          </a:p>
        </p:txBody>
      </p:sp>
      <p:sp>
        <p:nvSpPr>
          <p:cNvPr id="4" name="Content Placeholder 3">
            <a:extLst>
              <a:ext uri="{FF2B5EF4-FFF2-40B4-BE49-F238E27FC236}">
                <a16:creationId xmlns:a16="http://schemas.microsoft.com/office/drawing/2014/main" id="{EF786390-49C8-49E0-B426-C5157FAF1300}"/>
              </a:ext>
            </a:extLst>
          </p:cNvPr>
          <p:cNvSpPr>
            <a:spLocks noGrp="1"/>
          </p:cNvSpPr>
          <p:nvPr>
            <p:ph idx="1"/>
          </p:nvPr>
        </p:nvSpPr>
        <p:spPr>
          <a:xfrm>
            <a:off x="424543" y="1690688"/>
            <a:ext cx="4441371" cy="1505404"/>
          </a:xfrm>
          <a:prstGeom prst="roundRect">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marL="0" indent="0" algn="ctr">
              <a:buNone/>
            </a:pPr>
            <a:r>
              <a:rPr lang="en-IN" sz="2000" b="1" dirty="0">
                <a:solidFill>
                  <a:schemeClr val="tx1"/>
                </a:solidFill>
                <a:latin typeface="Poppins" panose="020B0604020202020204" charset="0"/>
                <a:cs typeface="Poppins" panose="020B0604020202020204" charset="0"/>
              </a:rPr>
              <a:t>Exploratory Data Analysis</a:t>
            </a:r>
          </a:p>
        </p:txBody>
      </p:sp>
      <p:sp>
        <p:nvSpPr>
          <p:cNvPr id="5" name="Rectangle: Rounded Corners 4">
            <a:extLst>
              <a:ext uri="{FF2B5EF4-FFF2-40B4-BE49-F238E27FC236}">
                <a16:creationId xmlns:a16="http://schemas.microsoft.com/office/drawing/2014/main" id="{EF786390-49C8-49E0-B426-C5157FAF1300}"/>
              </a:ext>
            </a:extLst>
          </p:cNvPr>
          <p:cNvSpPr/>
          <p:nvPr/>
        </p:nvSpPr>
        <p:spPr>
          <a:xfrm>
            <a:off x="6651171" y="1690688"/>
            <a:ext cx="4702629" cy="1505404"/>
          </a:xfrm>
          <a:prstGeom prst="roundRect">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IN" sz="2000" b="1" dirty="0">
                <a:solidFill>
                  <a:schemeClr val="tx1"/>
                </a:solidFill>
                <a:latin typeface="Poppins" panose="020B0604020202020204" charset="0"/>
                <a:cs typeface="Poppins" panose="020B0604020202020204" charset="0"/>
              </a:rPr>
              <a:t>Interactive Dashboard</a:t>
            </a:r>
          </a:p>
        </p:txBody>
      </p:sp>
      <p:pic>
        <p:nvPicPr>
          <p:cNvPr id="6" name="Picture 5">
            <a:extLst>
              <a:ext uri="{FF2B5EF4-FFF2-40B4-BE49-F238E27FC236}">
                <a16:creationId xmlns:a16="http://schemas.microsoft.com/office/drawing/2014/main" id="{D2DC62CA-5400-4726-99B5-FBA6F814D20E}"/>
              </a:ext>
            </a:extLst>
          </p:cNvPr>
          <p:cNvPicPr>
            <a:picLocks noChangeAspect="1"/>
          </p:cNvPicPr>
          <p:nvPr/>
        </p:nvPicPr>
        <p:blipFill>
          <a:blip r:embed="rId2"/>
          <a:srcRect/>
          <a:stretch/>
        </p:blipFill>
        <p:spPr>
          <a:xfrm>
            <a:off x="5388813" y="2100941"/>
            <a:ext cx="826546" cy="751116"/>
          </a:xfrm>
          <a:prstGeom prst="rect">
            <a:avLst/>
          </a:prstGeom>
        </p:spPr>
      </p:pic>
      <p:sp>
        <p:nvSpPr>
          <p:cNvPr id="8" name="TextBox 7">
            <a:extLst>
              <a:ext uri="{FF2B5EF4-FFF2-40B4-BE49-F238E27FC236}">
                <a16:creationId xmlns:a16="http://schemas.microsoft.com/office/drawing/2014/main" id="{1767FD30-A16F-4190-90E2-E5D864B23DCA}"/>
              </a:ext>
            </a:extLst>
          </p:cNvPr>
          <p:cNvSpPr txBox="1"/>
          <p:nvPr/>
        </p:nvSpPr>
        <p:spPr>
          <a:xfrm>
            <a:off x="424543" y="4457865"/>
            <a:ext cx="5410199" cy="584775"/>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anose="05000000000000000000" pitchFamily="2" charset="2"/>
              <a:buChar char="§"/>
            </a:pPr>
            <a:r>
              <a:rPr lang="en-GB" sz="1600" dirty="0">
                <a:solidFill>
                  <a:schemeClr val="tx1">
                    <a:lumMod val="65000"/>
                    <a:lumOff val="35000"/>
                  </a:schemeClr>
                </a:solidFill>
                <a:latin typeface="Poppins" panose="020B0604020202020204" charset="0"/>
                <a:cs typeface="Poppins" panose="020B0604020202020204" charset="0"/>
              </a:rPr>
              <a:t>Dive into historical sales, margins, products, channels, regions</a:t>
            </a:r>
            <a:endParaRPr lang="en-IN" sz="1600" dirty="0">
              <a:solidFill>
                <a:schemeClr val="tx1">
                  <a:lumMod val="65000"/>
                  <a:lumOff val="35000"/>
                </a:schemeClr>
              </a:solidFill>
              <a:latin typeface="Poppins" panose="020B0604020202020204" charset="0"/>
              <a:cs typeface="Poppins" panose="020B0604020202020204" charset="0"/>
            </a:endParaRPr>
          </a:p>
        </p:txBody>
      </p:sp>
      <p:sp>
        <p:nvSpPr>
          <p:cNvPr id="9" name="TextBox 21">
            <a:extLst>
              <a:ext uri="{FF2B5EF4-FFF2-40B4-BE49-F238E27FC236}">
                <a16:creationId xmlns:a16="http://schemas.microsoft.com/office/drawing/2014/main" id="{757D9954-2268-4CDE-BEC9-BD6EB7D4C508}"/>
              </a:ext>
            </a:extLst>
          </p:cNvPr>
          <p:cNvSpPr txBox="1"/>
          <p:nvPr/>
        </p:nvSpPr>
        <p:spPr>
          <a:xfrm>
            <a:off x="6651171" y="4445453"/>
            <a:ext cx="4909458" cy="584775"/>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anose="05000000000000000000" pitchFamily="2" charset="2"/>
              <a:buChar char="§"/>
            </a:pPr>
            <a:r>
              <a:rPr lang="en-IN" sz="1600" dirty="0">
                <a:solidFill>
                  <a:schemeClr val="tx1">
                    <a:lumMod val="65000"/>
                    <a:lumOff val="35000"/>
                  </a:schemeClr>
                </a:solidFill>
                <a:latin typeface="Poppins" panose="020B0604020202020204" charset="0"/>
                <a:cs typeface="Poppins" panose="020B0604020202020204" charset="0"/>
              </a:rPr>
              <a:t>Build a live view for business Users to self serve insights </a:t>
            </a:r>
          </a:p>
        </p:txBody>
      </p:sp>
      <p:sp>
        <p:nvSpPr>
          <p:cNvPr id="10" name="TextBox 22">
            <a:extLst>
              <a:ext uri="{FF2B5EF4-FFF2-40B4-BE49-F238E27FC236}">
                <a16:creationId xmlns:a16="http://schemas.microsoft.com/office/drawing/2014/main" id="{75B3FF80-C907-4C20-93BB-629AEE984E90}"/>
              </a:ext>
            </a:extLst>
          </p:cNvPr>
          <p:cNvSpPr txBox="1"/>
          <p:nvPr/>
        </p:nvSpPr>
        <p:spPr>
          <a:xfrm>
            <a:off x="6694713" y="5165771"/>
            <a:ext cx="4746170" cy="584775"/>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anose="05000000000000000000" pitchFamily="2" charset="2"/>
              <a:buChar char="§"/>
            </a:pPr>
            <a:r>
              <a:rPr lang="en-IN" sz="1600" dirty="0">
                <a:solidFill>
                  <a:schemeClr val="tx1">
                    <a:lumMod val="65000"/>
                    <a:lumOff val="35000"/>
                  </a:schemeClr>
                </a:solidFill>
                <a:latin typeface="Poppins" panose="020B0604020202020204" charset="0"/>
                <a:cs typeface="Poppins" panose="020B0604020202020204" charset="0"/>
              </a:rPr>
              <a:t>Enable ad-hoc slicing by time, product, region, channel</a:t>
            </a:r>
          </a:p>
        </p:txBody>
      </p:sp>
      <p:sp>
        <p:nvSpPr>
          <p:cNvPr id="11" name="TextBox 29">
            <a:extLst>
              <a:ext uri="{FF2B5EF4-FFF2-40B4-BE49-F238E27FC236}">
                <a16:creationId xmlns:a16="http://schemas.microsoft.com/office/drawing/2014/main" id="{F5524C7F-A5F0-4504-9D64-B4D4EEE5B159}"/>
              </a:ext>
            </a:extLst>
          </p:cNvPr>
          <p:cNvSpPr txBox="1"/>
          <p:nvPr/>
        </p:nvSpPr>
        <p:spPr>
          <a:xfrm>
            <a:off x="468087" y="5293811"/>
            <a:ext cx="4746170" cy="33855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anose="05000000000000000000" pitchFamily="2" charset="2"/>
              <a:buChar char="§"/>
            </a:pPr>
            <a:r>
              <a:rPr lang="en-GB" sz="1600" dirty="0">
                <a:solidFill>
                  <a:schemeClr val="tx1">
                    <a:lumMod val="65000"/>
                    <a:lumOff val="35000"/>
                  </a:schemeClr>
                </a:solidFill>
                <a:latin typeface="Poppins" panose="020B0604020202020204" charset="0"/>
                <a:cs typeface="Poppins" panose="020B0604020202020204" charset="0"/>
              </a:rPr>
              <a:t>Surface trend, outliers &amp; relationships</a:t>
            </a:r>
            <a:endParaRPr lang="en-IN" sz="1600" dirty="0">
              <a:solidFill>
                <a:schemeClr val="tx1">
                  <a:lumMod val="65000"/>
                  <a:lumOff val="35000"/>
                </a:schemeClr>
              </a:solidFill>
              <a:latin typeface="Poppins" panose="020B0604020202020204" charset="0"/>
              <a:cs typeface="Poppins" panose="020B0604020202020204" charset="0"/>
            </a:endParaRPr>
          </a:p>
        </p:txBody>
      </p:sp>
      <p:sp>
        <p:nvSpPr>
          <p:cNvPr id="12" name="Arrow: Down 11">
            <a:extLst>
              <a:ext uri="{FF2B5EF4-FFF2-40B4-BE49-F238E27FC236}">
                <a16:creationId xmlns:a16="http://schemas.microsoft.com/office/drawing/2014/main" id="{B04D62CA-0D74-423A-8B8E-1D0931ACDA1B}"/>
              </a:ext>
            </a:extLst>
          </p:cNvPr>
          <p:cNvSpPr/>
          <p:nvPr/>
        </p:nvSpPr>
        <p:spPr>
          <a:xfrm>
            <a:off x="2397172" y="3386990"/>
            <a:ext cx="496111" cy="879977"/>
          </a:xfrm>
          <a:prstGeom prst="downArrow">
            <a:avLst/>
          </a:prstGeom>
          <a:solidFill>
            <a:schemeClr val="tx1"/>
          </a:solidFill>
          <a:ln>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IN"/>
          </a:p>
        </p:txBody>
      </p:sp>
      <p:sp>
        <p:nvSpPr>
          <p:cNvPr id="13" name="Arrow: Down 12">
            <a:extLst>
              <a:ext uri="{FF2B5EF4-FFF2-40B4-BE49-F238E27FC236}">
                <a16:creationId xmlns:a16="http://schemas.microsoft.com/office/drawing/2014/main" id="{E64E58B3-0321-FC7A-E505-7AE9EFB10CDB}"/>
              </a:ext>
            </a:extLst>
          </p:cNvPr>
          <p:cNvSpPr/>
          <p:nvPr/>
        </p:nvSpPr>
        <p:spPr>
          <a:xfrm>
            <a:off x="8609789" y="3375991"/>
            <a:ext cx="496111" cy="879977"/>
          </a:xfrm>
          <a:prstGeom prst="downArrow">
            <a:avLst/>
          </a:prstGeom>
          <a:solidFill>
            <a:schemeClr val="tx1"/>
          </a:solidFill>
          <a:ln>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IN"/>
          </a:p>
        </p:txBody>
      </p:sp>
    </p:spTree>
    <p:extLst>
      <p:ext uri="{BB962C8B-B14F-4D97-AF65-F5344CB8AC3E}">
        <p14:creationId xmlns:p14="http://schemas.microsoft.com/office/powerpoint/2010/main" val="23933364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DBB79-F4B8-033D-ECB0-44C4A74CC92C}"/>
              </a:ext>
            </a:extLst>
          </p:cNvPr>
          <p:cNvSpPr>
            <a:spLocks noGrp="1"/>
          </p:cNvSpPr>
          <p:nvPr>
            <p:ph type="title"/>
          </p:nvPr>
        </p:nvSpPr>
        <p:spPr>
          <a:xfrm>
            <a:off x="0" y="0"/>
            <a:ext cx="12192000" cy="1088571"/>
          </a:xfrm>
          <a:solidFill>
            <a:schemeClr val="accent6">
              <a:lumMod val="20000"/>
              <a:lumOff val="80000"/>
            </a:schemeClr>
          </a:solidFill>
        </p:spPr>
        <p:txBody>
          <a:bodyPr>
            <a:normAutofit/>
          </a:bodyPr>
          <a:lstStyle/>
          <a:p>
            <a:r>
              <a:rPr lang="en-IN" b="1" dirty="0">
                <a:cs typeface="Poppins" panose="020B0604020202020204" charset="0"/>
              </a:rPr>
              <a:t>Project Workflow</a:t>
            </a:r>
            <a:endParaRPr lang="en-US" b="1" dirty="0"/>
          </a:p>
        </p:txBody>
      </p:sp>
      <p:grpSp>
        <p:nvGrpSpPr>
          <p:cNvPr id="4" name="Group 3">
            <a:extLst>
              <a:ext uri="{FF2B5EF4-FFF2-40B4-BE49-F238E27FC236}">
                <a16:creationId xmlns:a16="http://schemas.microsoft.com/office/drawing/2014/main" id="{DF224B0A-B7DA-4658-84D8-77EAAAA36721}"/>
              </a:ext>
            </a:extLst>
          </p:cNvPr>
          <p:cNvGrpSpPr/>
          <p:nvPr/>
        </p:nvGrpSpPr>
        <p:grpSpPr>
          <a:xfrm>
            <a:off x="264012" y="1672614"/>
            <a:ext cx="515566" cy="496110"/>
            <a:chOff x="1342417" y="1955260"/>
            <a:chExt cx="603115" cy="584775"/>
          </a:xfrm>
        </p:grpSpPr>
        <p:sp>
          <p:nvSpPr>
            <p:cNvPr id="70" name="Oval 69">
              <a:extLst>
                <a:ext uri="{FF2B5EF4-FFF2-40B4-BE49-F238E27FC236}">
                  <a16:creationId xmlns:a16="http://schemas.microsoft.com/office/drawing/2014/main" id="{089343E5-4B2D-4BC3-8EE0-946E05CD05D9}"/>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IN" dirty="0">
                  <a:solidFill>
                    <a:schemeClr val="tx1"/>
                  </a:solidFill>
                </a:rPr>
                <a:t>1</a:t>
              </a:r>
            </a:p>
          </p:txBody>
        </p:sp>
        <p:sp>
          <p:nvSpPr>
            <p:cNvPr id="71" name="Oval 70">
              <a:extLst>
                <a:ext uri="{FF2B5EF4-FFF2-40B4-BE49-F238E27FC236}">
                  <a16:creationId xmlns:a16="http://schemas.microsoft.com/office/drawing/2014/main" id="{1D168AE5-10DE-45C6-9E2E-7BD888A72375}"/>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IN" sz="1600" dirty="0">
                  <a:solidFill>
                    <a:schemeClr val="tx1"/>
                  </a:solidFill>
                  <a:latin typeface="Poppins" panose="020B0604020202020204" charset="0"/>
                  <a:cs typeface="Poppins" panose="020B0604020202020204" charset="0"/>
                </a:rPr>
                <a:t>1</a:t>
              </a:r>
            </a:p>
          </p:txBody>
        </p:sp>
      </p:grpSp>
      <p:grpSp>
        <p:nvGrpSpPr>
          <p:cNvPr id="5" name="Group 4">
            <a:extLst>
              <a:ext uri="{FF2B5EF4-FFF2-40B4-BE49-F238E27FC236}">
                <a16:creationId xmlns:a16="http://schemas.microsoft.com/office/drawing/2014/main" id="{D5E95E7B-E630-4DFF-9DBE-EE55E40FEADD}"/>
              </a:ext>
            </a:extLst>
          </p:cNvPr>
          <p:cNvGrpSpPr/>
          <p:nvPr/>
        </p:nvGrpSpPr>
        <p:grpSpPr>
          <a:xfrm>
            <a:off x="805543" y="1370445"/>
            <a:ext cx="4631243" cy="1172796"/>
            <a:chOff x="1381328" y="1434217"/>
            <a:chExt cx="3988340" cy="1172796"/>
          </a:xfrm>
        </p:grpSpPr>
        <p:grpSp>
          <p:nvGrpSpPr>
            <p:cNvPr id="64" name="Group 63">
              <a:extLst>
                <a:ext uri="{FF2B5EF4-FFF2-40B4-BE49-F238E27FC236}">
                  <a16:creationId xmlns:a16="http://schemas.microsoft.com/office/drawing/2014/main" id="{BF6D0B17-11C6-4912-A377-9ACA0AA9214F}"/>
                </a:ext>
              </a:extLst>
            </p:cNvPr>
            <p:cNvGrpSpPr/>
            <p:nvPr/>
          </p:nvGrpSpPr>
          <p:grpSpPr>
            <a:xfrm>
              <a:off x="1381328" y="1434217"/>
              <a:ext cx="3988340" cy="1172796"/>
              <a:chOff x="1381328" y="1434217"/>
              <a:chExt cx="3988340" cy="1172796"/>
            </a:xfrm>
          </p:grpSpPr>
          <p:grpSp>
            <p:nvGrpSpPr>
              <p:cNvPr id="66" name="Group 65">
                <a:extLst>
                  <a:ext uri="{FF2B5EF4-FFF2-40B4-BE49-F238E27FC236}">
                    <a16:creationId xmlns:a16="http://schemas.microsoft.com/office/drawing/2014/main" id="{280696E0-F33F-4F8F-BEF9-47CE369EC2B4}"/>
                  </a:ext>
                </a:extLst>
              </p:cNvPr>
              <p:cNvGrpSpPr/>
              <p:nvPr/>
            </p:nvGrpSpPr>
            <p:grpSpPr>
              <a:xfrm>
                <a:off x="1381328" y="1434829"/>
                <a:ext cx="3988340" cy="1172184"/>
                <a:chOff x="1381328" y="1434829"/>
                <a:chExt cx="3988340" cy="1172184"/>
              </a:xfrm>
            </p:grpSpPr>
            <p:sp>
              <p:nvSpPr>
                <p:cNvPr id="68" name="Rectangle: Rounded Corners 67">
                  <a:extLst>
                    <a:ext uri="{FF2B5EF4-FFF2-40B4-BE49-F238E27FC236}">
                      <a16:creationId xmlns:a16="http://schemas.microsoft.com/office/drawing/2014/main" id="{9EE557D7-8B52-48E0-BA8F-679E18943105}"/>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IN" dirty="0">
                      <a:solidFill>
                        <a:schemeClr val="tx1"/>
                      </a:solidFill>
                    </a:rPr>
                    <a:t>De</a:t>
                  </a:r>
                </a:p>
              </p:txBody>
            </p:sp>
            <p:sp>
              <p:nvSpPr>
                <p:cNvPr id="69" name="Rectangle: Rounded Corners 68">
                  <a:extLst>
                    <a:ext uri="{FF2B5EF4-FFF2-40B4-BE49-F238E27FC236}">
                      <a16:creationId xmlns:a16="http://schemas.microsoft.com/office/drawing/2014/main" id="{9372ADC6-D177-4A3B-A941-FB3884741A1A}"/>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IN">
                    <a:solidFill>
                      <a:schemeClr val="tx1"/>
                    </a:solidFill>
                  </a:endParaRPr>
                </a:p>
              </p:txBody>
            </p:sp>
          </p:grpSp>
          <p:sp>
            <p:nvSpPr>
              <p:cNvPr id="67" name="TextBox 8">
                <a:extLst>
                  <a:ext uri="{FF2B5EF4-FFF2-40B4-BE49-F238E27FC236}">
                    <a16:creationId xmlns:a16="http://schemas.microsoft.com/office/drawing/2014/main" id="{03EC3956-454F-47F7-9AA5-29BE27635D16}"/>
                  </a:ext>
                </a:extLst>
              </p:cNvPr>
              <p:cNvSpPr txBox="1"/>
              <p:nvPr/>
            </p:nvSpPr>
            <p:spPr>
              <a:xfrm>
                <a:off x="1976717" y="1434217"/>
                <a:ext cx="2494797" cy="338554"/>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600" b="1" dirty="0">
                    <a:solidFill>
                      <a:schemeClr val="tx1"/>
                    </a:solidFill>
                    <a:latin typeface="Poppins" panose="020B0604020202020204" charset="0"/>
                    <a:cs typeface="Poppins" panose="020B0604020202020204" charset="0"/>
                  </a:rPr>
                  <a:t>Define Business Objective</a:t>
                </a:r>
              </a:p>
            </p:txBody>
          </p:sp>
        </p:grpSp>
        <p:sp>
          <p:nvSpPr>
            <p:cNvPr id="65" name="TextBox 10">
              <a:extLst>
                <a:ext uri="{FF2B5EF4-FFF2-40B4-BE49-F238E27FC236}">
                  <a16:creationId xmlns:a16="http://schemas.microsoft.com/office/drawing/2014/main" id="{F6CA487F-1F18-4418-AFDB-70EDFA869D6E}"/>
                </a:ext>
              </a:extLst>
            </p:cNvPr>
            <p:cNvSpPr txBox="1"/>
            <p:nvPr/>
          </p:nvSpPr>
          <p:spPr>
            <a:xfrm>
              <a:off x="1710446" y="1920858"/>
              <a:ext cx="3561945"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GB" dirty="0">
                  <a:solidFill>
                    <a:schemeClr val="tx1"/>
                  </a:solidFill>
                  <a:latin typeface="Poppins" panose="020B0604020202020204" charset="0"/>
                  <a:cs typeface="Poppins" panose="020B0604020202020204" charset="0"/>
                </a:rPr>
                <a:t>Understand the core problem and expected business outcomes.</a:t>
              </a:r>
              <a:endParaRPr lang="en-IN" dirty="0">
                <a:solidFill>
                  <a:schemeClr val="tx1"/>
                </a:solidFill>
                <a:latin typeface="Poppins" panose="020B0604020202020204" charset="0"/>
                <a:cs typeface="Poppins" panose="020B0604020202020204" charset="0"/>
              </a:endParaRPr>
            </a:p>
          </p:txBody>
        </p:sp>
      </p:grpSp>
      <p:grpSp>
        <p:nvGrpSpPr>
          <p:cNvPr id="6" name="Group 5">
            <a:extLst>
              <a:ext uri="{FF2B5EF4-FFF2-40B4-BE49-F238E27FC236}">
                <a16:creationId xmlns:a16="http://schemas.microsoft.com/office/drawing/2014/main" id="{19D0BBFF-8B46-41EA-9432-D45859685DF7}"/>
              </a:ext>
            </a:extLst>
          </p:cNvPr>
          <p:cNvGrpSpPr/>
          <p:nvPr/>
        </p:nvGrpSpPr>
        <p:grpSpPr>
          <a:xfrm>
            <a:off x="6775530" y="1370751"/>
            <a:ext cx="5217950" cy="1172796"/>
            <a:chOff x="6919610" y="1434523"/>
            <a:chExt cx="4653866" cy="1172796"/>
          </a:xfrm>
        </p:grpSpPr>
        <p:grpSp>
          <p:nvGrpSpPr>
            <p:cNvPr id="54" name="Group 53">
              <a:extLst>
                <a:ext uri="{FF2B5EF4-FFF2-40B4-BE49-F238E27FC236}">
                  <a16:creationId xmlns:a16="http://schemas.microsoft.com/office/drawing/2014/main" id="{11B7D166-4071-4D7E-9D73-F0FA24768FD5}"/>
                </a:ext>
              </a:extLst>
            </p:cNvPr>
            <p:cNvGrpSpPr/>
            <p:nvPr/>
          </p:nvGrpSpPr>
          <p:grpSpPr>
            <a:xfrm>
              <a:off x="6919610" y="1736386"/>
              <a:ext cx="515566" cy="496110"/>
              <a:chOff x="1342417" y="1955260"/>
              <a:chExt cx="603115" cy="584775"/>
            </a:xfrm>
          </p:grpSpPr>
          <p:sp>
            <p:nvSpPr>
              <p:cNvPr id="62" name="Oval 61">
                <a:extLst>
                  <a:ext uri="{FF2B5EF4-FFF2-40B4-BE49-F238E27FC236}">
                    <a16:creationId xmlns:a16="http://schemas.microsoft.com/office/drawing/2014/main" id="{73248B29-E84C-4432-8E22-0CEEA1986F73}"/>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IN" dirty="0">
                    <a:solidFill>
                      <a:schemeClr val="tx1"/>
                    </a:solidFill>
                  </a:rPr>
                  <a:t>1</a:t>
                </a:r>
              </a:p>
            </p:txBody>
          </p:sp>
          <p:sp>
            <p:nvSpPr>
              <p:cNvPr id="63" name="Oval 62">
                <a:extLst>
                  <a:ext uri="{FF2B5EF4-FFF2-40B4-BE49-F238E27FC236}">
                    <a16:creationId xmlns:a16="http://schemas.microsoft.com/office/drawing/2014/main" id="{C927EDD5-A3A6-4179-B14F-5B8ABC9EF74F}"/>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IN" sz="1600" dirty="0">
                    <a:solidFill>
                      <a:schemeClr val="tx1"/>
                    </a:solidFill>
                    <a:latin typeface="Poppins" panose="020B0604020202020204" charset="0"/>
                    <a:cs typeface="Poppins" panose="020B0604020202020204" charset="0"/>
                  </a:rPr>
                  <a:t>2</a:t>
                </a:r>
              </a:p>
            </p:txBody>
          </p:sp>
        </p:grpSp>
        <p:grpSp>
          <p:nvGrpSpPr>
            <p:cNvPr id="55" name="Group 54">
              <a:extLst>
                <a:ext uri="{FF2B5EF4-FFF2-40B4-BE49-F238E27FC236}">
                  <a16:creationId xmlns:a16="http://schemas.microsoft.com/office/drawing/2014/main" id="{B8169776-30B8-4FBC-A478-8FFCF84A0AD9}"/>
                </a:ext>
              </a:extLst>
            </p:cNvPr>
            <p:cNvGrpSpPr/>
            <p:nvPr/>
          </p:nvGrpSpPr>
          <p:grpSpPr>
            <a:xfrm>
              <a:off x="7585136" y="1434523"/>
              <a:ext cx="3988340" cy="1172796"/>
              <a:chOff x="1381328" y="1434217"/>
              <a:chExt cx="3988340" cy="1172796"/>
            </a:xfrm>
          </p:grpSpPr>
          <p:grpSp>
            <p:nvGrpSpPr>
              <p:cNvPr id="56" name="Group 55">
                <a:extLst>
                  <a:ext uri="{FF2B5EF4-FFF2-40B4-BE49-F238E27FC236}">
                    <a16:creationId xmlns:a16="http://schemas.microsoft.com/office/drawing/2014/main" id="{2FBEE5F3-B4C3-4A4E-ADB4-1262739AED23}"/>
                  </a:ext>
                </a:extLst>
              </p:cNvPr>
              <p:cNvGrpSpPr/>
              <p:nvPr/>
            </p:nvGrpSpPr>
            <p:grpSpPr>
              <a:xfrm>
                <a:off x="1381328" y="1434217"/>
                <a:ext cx="3988340" cy="1172796"/>
                <a:chOff x="1381328" y="1434217"/>
                <a:chExt cx="3988340" cy="1172796"/>
              </a:xfrm>
            </p:grpSpPr>
            <p:grpSp>
              <p:nvGrpSpPr>
                <p:cNvPr id="58" name="Group 57">
                  <a:extLst>
                    <a:ext uri="{FF2B5EF4-FFF2-40B4-BE49-F238E27FC236}">
                      <a16:creationId xmlns:a16="http://schemas.microsoft.com/office/drawing/2014/main" id="{44EDF781-E63E-4928-AA7B-47091E998F42}"/>
                    </a:ext>
                  </a:extLst>
                </p:cNvPr>
                <p:cNvGrpSpPr/>
                <p:nvPr/>
              </p:nvGrpSpPr>
              <p:grpSpPr>
                <a:xfrm>
                  <a:off x="1381328" y="1434829"/>
                  <a:ext cx="3988340" cy="1172184"/>
                  <a:chOff x="1381328" y="1434829"/>
                  <a:chExt cx="3988340" cy="1172184"/>
                </a:xfrm>
              </p:grpSpPr>
              <p:sp>
                <p:nvSpPr>
                  <p:cNvPr id="60" name="Rectangle: Rounded Corners 59">
                    <a:extLst>
                      <a:ext uri="{FF2B5EF4-FFF2-40B4-BE49-F238E27FC236}">
                        <a16:creationId xmlns:a16="http://schemas.microsoft.com/office/drawing/2014/main" id="{D624CC8E-349B-4D52-84ED-47A6DB06B343}"/>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IN" dirty="0">
                        <a:solidFill>
                          <a:schemeClr val="tx1"/>
                        </a:solidFill>
                      </a:rPr>
                      <a:t>De</a:t>
                    </a:r>
                  </a:p>
                </p:txBody>
              </p:sp>
              <p:sp>
                <p:nvSpPr>
                  <p:cNvPr id="61" name="Rectangle: Rounded Corners 60">
                    <a:extLst>
                      <a:ext uri="{FF2B5EF4-FFF2-40B4-BE49-F238E27FC236}">
                        <a16:creationId xmlns:a16="http://schemas.microsoft.com/office/drawing/2014/main" id="{65C49F8A-6986-4B0F-8668-4B436C8AF79E}"/>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IN">
                      <a:solidFill>
                        <a:schemeClr val="tx1"/>
                      </a:solidFill>
                    </a:endParaRPr>
                  </a:p>
                </p:txBody>
              </p:sp>
            </p:grpSp>
            <p:sp>
              <p:nvSpPr>
                <p:cNvPr id="59" name="TextBox 28">
                  <a:extLst>
                    <a:ext uri="{FF2B5EF4-FFF2-40B4-BE49-F238E27FC236}">
                      <a16:creationId xmlns:a16="http://schemas.microsoft.com/office/drawing/2014/main" id="{8F9BDF65-E819-465C-A638-470B5BBB1ADF}"/>
                    </a:ext>
                  </a:extLst>
                </p:cNvPr>
                <p:cNvSpPr txBox="1"/>
                <p:nvPr/>
              </p:nvSpPr>
              <p:spPr>
                <a:xfrm>
                  <a:off x="1976717" y="1434217"/>
                  <a:ext cx="2689572" cy="338554"/>
                </a:xfrm>
                <a:prstGeom prst="rect">
                  <a:avLst/>
                </a:prstGeom>
                <a:noFill/>
              </p:spPr>
              <p:txBody>
                <a:bodyPr wrap="none" rtlCol="0">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600" b="1" i="0" u="none" strike="noStrike" cap="none">
                      <a:solidFill>
                        <a:schemeClr val="bg1">
                          <a:lumMod val="95000"/>
                        </a:schemeClr>
                      </a:solidFill>
                      <a:latin typeface="Poppins" panose="020B0604020202020204" charset="0"/>
                      <a:ea typeface="Arial"/>
                      <a:cs typeface="Poppins" panose="020B060402020202020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solidFill>
                        <a:schemeClr val="tx1"/>
                      </a:solidFill>
                    </a:rPr>
                    <a:t>Collect &amp; Consolidate Data</a:t>
                  </a:r>
                </a:p>
              </p:txBody>
            </p:sp>
          </p:grpSp>
          <p:sp>
            <p:nvSpPr>
              <p:cNvPr id="57" name="TextBox 26">
                <a:extLst>
                  <a:ext uri="{FF2B5EF4-FFF2-40B4-BE49-F238E27FC236}">
                    <a16:creationId xmlns:a16="http://schemas.microsoft.com/office/drawing/2014/main" id="{43B06949-40E7-46B3-A568-01AB147E024F}"/>
                  </a:ext>
                </a:extLst>
              </p:cNvPr>
              <p:cNvSpPr txBox="1"/>
              <p:nvPr/>
            </p:nvSpPr>
            <p:spPr>
              <a:xfrm>
                <a:off x="1562185" y="1893064"/>
                <a:ext cx="3703728"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GB" dirty="0">
                    <a:solidFill>
                      <a:schemeClr val="tx1"/>
                    </a:solidFill>
                    <a:latin typeface="Poppins" panose="020B0604020202020204" charset="0"/>
                    <a:cs typeface="Poppins" panose="020B0604020202020204" charset="0"/>
                  </a:rPr>
                  <a:t>Gather multi-source sales data (Excel sheets) and understand schema.</a:t>
                </a:r>
                <a:endParaRPr lang="en-IN" dirty="0">
                  <a:solidFill>
                    <a:schemeClr val="tx1"/>
                  </a:solidFill>
                  <a:latin typeface="Poppins" panose="020B0604020202020204" charset="0"/>
                  <a:cs typeface="Poppins" panose="020B0604020202020204" charset="0"/>
                </a:endParaRPr>
              </a:p>
            </p:txBody>
          </p:sp>
        </p:grpSp>
      </p:grpSp>
      <p:grpSp>
        <p:nvGrpSpPr>
          <p:cNvPr id="7" name="Group 6">
            <a:extLst>
              <a:ext uri="{FF2B5EF4-FFF2-40B4-BE49-F238E27FC236}">
                <a16:creationId xmlns:a16="http://schemas.microsoft.com/office/drawing/2014/main" id="{25B761F6-5DB9-4DA5-B1D9-D59F4B34BD41}"/>
              </a:ext>
            </a:extLst>
          </p:cNvPr>
          <p:cNvGrpSpPr/>
          <p:nvPr/>
        </p:nvGrpSpPr>
        <p:grpSpPr>
          <a:xfrm>
            <a:off x="272363" y="3375432"/>
            <a:ext cx="5164423" cy="1173408"/>
            <a:chOff x="6919610" y="1433911"/>
            <a:chExt cx="4653866" cy="1173408"/>
          </a:xfrm>
        </p:grpSpPr>
        <p:grpSp>
          <p:nvGrpSpPr>
            <p:cNvPr id="44" name="Group 43">
              <a:extLst>
                <a:ext uri="{FF2B5EF4-FFF2-40B4-BE49-F238E27FC236}">
                  <a16:creationId xmlns:a16="http://schemas.microsoft.com/office/drawing/2014/main" id="{3BA967EC-2FC1-44F9-9F90-8FDD90E5A008}"/>
                </a:ext>
              </a:extLst>
            </p:cNvPr>
            <p:cNvGrpSpPr/>
            <p:nvPr/>
          </p:nvGrpSpPr>
          <p:grpSpPr>
            <a:xfrm>
              <a:off x="6919610" y="1736386"/>
              <a:ext cx="515566" cy="496110"/>
              <a:chOff x="1342417" y="1955260"/>
              <a:chExt cx="603115" cy="584775"/>
            </a:xfrm>
          </p:grpSpPr>
          <p:sp>
            <p:nvSpPr>
              <p:cNvPr id="52" name="Oval 51">
                <a:extLst>
                  <a:ext uri="{FF2B5EF4-FFF2-40B4-BE49-F238E27FC236}">
                    <a16:creationId xmlns:a16="http://schemas.microsoft.com/office/drawing/2014/main" id="{94208AF3-0F2C-427A-9E3D-9CB47C8B723E}"/>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IN" dirty="0">
                    <a:solidFill>
                      <a:schemeClr val="tx1"/>
                    </a:solidFill>
                  </a:rPr>
                  <a:t>1</a:t>
                </a:r>
              </a:p>
            </p:txBody>
          </p:sp>
          <p:sp>
            <p:nvSpPr>
              <p:cNvPr id="53" name="Oval 52">
                <a:extLst>
                  <a:ext uri="{FF2B5EF4-FFF2-40B4-BE49-F238E27FC236}">
                    <a16:creationId xmlns:a16="http://schemas.microsoft.com/office/drawing/2014/main" id="{1544FD55-C41E-4C29-9371-25EB5C45A0FB}"/>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IN" sz="1600" dirty="0">
                    <a:solidFill>
                      <a:schemeClr val="tx1"/>
                    </a:solidFill>
                    <a:latin typeface="Poppins" panose="020B0604020202020204" charset="0"/>
                    <a:cs typeface="Poppins" panose="020B0604020202020204" charset="0"/>
                  </a:rPr>
                  <a:t>4</a:t>
                </a:r>
              </a:p>
            </p:txBody>
          </p:sp>
        </p:grpSp>
        <p:grpSp>
          <p:nvGrpSpPr>
            <p:cNvPr id="45" name="Group 44">
              <a:extLst>
                <a:ext uri="{FF2B5EF4-FFF2-40B4-BE49-F238E27FC236}">
                  <a16:creationId xmlns:a16="http://schemas.microsoft.com/office/drawing/2014/main" id="{68F693FF-20BC-41C0-9714-BB2E7B1181C4}"/>
                </a:ext>
              </a:extLst>
            </p:cNvPr>
            <p:cNvGrpSpPr/>
            <p:nvPr/>
          </p:nvGrpSpPr>
          <p:grpSpPr>
            <a:xfrm>
              <a:off x="7585136" y="1433911"/>
              <a:ext cx="3988340" cy="1173408"/>
              <a:chOff x="1381328" y="1433605"/>
              <a:chExt cx="3988340" cy="1173408"/>
            </a:xfrm>
          </p:grpSpPr>
          <p:grpSp>
            <p:nvGrpSpPr>
              <p:cNvPr id="46" name="Group 45">
                <a:extLst>
                  <a:ext uri="{FF2B5EF4-FFF2-40B4-BE49-F238E27FC236}">
                    <a16:creationId xmlns:a16="http://schemas.microsoft.com/office/drawing/2014/main" id="{61B76429-847A-4A58-A656-B30BD733F7AB}"/>
                  </a:ext>
                </a:extLst>
              </p:cNvPr>
              <p:cNvGrpSpPr/>
              <p:nvPr/>
            </p:nvGrpSpPr>
            <p:grpSpPr>
              <a:xfrm>
                <a:off x="1381328" y="1433605"/>
                <a:ext cx="3988340" cy="1173408"/>
                <a:chOff x="1381328" y="1433605"/>
                <a:chExt cx="3988340" cy="1173408"/>
              </a:xfrm>
            </p:grpSpPr>
            <p:grpSp>
              <p:nvGrpSpPr>
                <p:cNvPr id="48" name="Group 47">
                  <a:extLst>
                    <a:ext uri="{FF2B5EF4-FFF2-40B4-BE49-F238E27FC236}">
                      <a16:creationId xmlns:a16="http://schemas.microsoft.com/office/drawing/2014/main" id="{35AB8DCD-1B22-4331-AB93-F0D09D45070B}"/>
                    </a:ext>
                  </a:extLst>
                </p:cNvPr>
                <p:cNvGrpSpPr/>
                <p:nvPr/>
              </p:nvGrpSpPr>
              <p:grpSpPr>
                <a:xfrm>
                  <a:off x="1381328" y="1434829"/>
                  <a:ext cx="3988340" cy="1172184"/>
                  <a:chOff x="1381328" y="1434829"/>
                  <a:chExt cx="3988340" cy="1172184"/>
                </a:xfrm>
              </p:grpSpPr>
              <p:sp>
                <p:nvSpPr>
                  <p:cNvPr id="50" name="Rectangle: Rounded Corners 49">
                    <a:extLst>
                      <a:ext uri="{FF2B5EF4-FFF2-40B4-BE49-F238E27FC236}">
                        <a16:creationId xmlns:a16="http://schemas.microsoft.com/office/drawing/2014/main" id="{9E8E0687-529A-457D-8CB6-34EF919B1591}"/>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IN" dirty="0">
                        <a:solidFill>
                          <a:schemeClr val="tx1"/>
                        </a:solidFill>
                      </a:rPr>
                      <a:t>De</a:t>
                    </a:r>
                  </a:p>
                </p:txBody>
              </p:sp>
              <p:sp>
                <p:nvSpPr>
                  <p:cNvPr id="51" name="Rectangle: Rounded Corners 50">
                    <a:extLst>
                      <a:ext uri="{FF2B5EF4-FFF2-40B4-BE49-F238E27FC236}">
                        <a16:creationId xmlns:a16="http://schemas.microsoft.com/office/drawing/2014/main" id="{5DA7EFF5-C8D7-41DB-920A-64F34FFE441C}"/>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IN">
                      <a:solidFill>
                        <a:schemeClr val="tx1"/>
                      </a:solidFill>
                    </a:endParaRPr>
                  </a:p>
                </p:txBody>
              </p:sp>
            </p:grpSp>
            <p:sp>
              <p:nvSpPr>
                <p:cNvPr id="49" name="TextBox 38">
                  <a:extLst>
                    <a:ext uri="{FF2B5EF4-FFF2-40B4-BE49-F238E27FC236}">
                      <a16:creationId xmlns:a16="http://schemas.microsoft.com/office/drawing/2014/main" id="{58C717FF-EB58-44E4-BBF4-A6526FD5923D}"/>
                    </a:ext>
                  </a:extLst>
                </p:cNvPr>
                <p:cNvSpPr txBox="1"/>
                <p:nvPr/>
              </p:nvSpPr>
              <p:spPr>
                <a:xfrm>
                  <a:off x="1859698" y="1433605"/>
                  <a:ext cx="2731894" cy="338554"/>
                </a:xfrm>
                <a:prstGeom prst="rect">
                  <a:avLst/>
                </a:prstGeom>
                <a:noFill/>
              </p:spPr>
              <p:txBody>
                <a:bodyPr wrap="none" rtlCol="0">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600" b="1" i="0" u="none" strike="noStrike" cap="none">
                      <a:solidFill>
                        <a:schemeClr val="bg1">
                          <a:lumMod val="95000"/>
                        </a:schemeClr>
                      </a:solidFill>
                      <a:latin typeface="Poppins" panose="020B0604020202020204" charset="0"/>
                      <a:ea typeface="Arial"/>
                      <a:cs typeface="Poppins" panose="020B060402020202020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solidFill>
                        <a:schemeClr val="tx1"/>
                      </a:solidFill>
                    </a:rPr>
                    <a:t>Pre-processing &amp; Cleaning</a:t>
                  </a:r>
                </a:p>
              </p:txBody>
            </p:sp>
          </p:grpSp>
          <p:sp>
            <p:nvSpPr>
              <p:cNvPr id="47" name="TextBox 36">
                <a:extLst>
                  <a:ext uri="{FF2B5EF4-FFF2-40B4-BE49-F238E27FC236}">
                    <a16:creationId xmlns:a16="http://schemas.microsoft.com/office/drawing/2014/main" id="{562B146E-F93E-4760-BE00-6323D1BFD5E3}"/>
                  </a:ext>
                </a:extLst>
              </p:cNvPr>
              <p:cNvSpPr txBox="1"/>
              <p:nvPr/>
            </p:nvSpPr>
            <p:spPr>
              <a:xfrm>
                <a:off x="1546421" y="1893064"/>
                <a:ext cx="3584922"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GB" dirty="0">
                    <a:solidFill>
                      <a:schemeClr val="tx1"/>
                    </a:solidFill>
                    <a:latin typeface="Poppins" panose="020B0604020202020204" charset="0"/>
                    <a:cs typeface="Poppins" panose="020B0604020202020204" charset="0"/>
                  </a:rPr>
                  <a:t>Handle nulls, join tables, format dates, and normalize columns.</a:t>
                </a:r>
                <a:endParaRPr lang="en-IN" dirty="0">
                  <a:solidFill>
                    <a:schemeClr val="tx1"/>
                  </a:solidFill>
                  <a:latin typeface="Poppins" panose="020B0604020202020204" charset="0"/>
                  <a:cs typeface="Poppins" panose="020B0604020202020204" charset="0"/>
                </a:endParaRPr>
              </a:p>
            </p:txBody>
          </p:sp>
        </p:grpSp>
      </p:grpSp>
      <p:grpSp>
        <p:nvGrpSpPr>
          <p:cNvPr id="8" name="Group 7">
            <a:extLst>
              <a:ext uri="{FF2B5EF4-FFF2-40B4-BE49-F238E27FC236}">
                <a16:creationId xmlns:a16="http://schemas.microsoft.com/office/drawing/2014/main" id="{13ABB51D-93B4-4559-9723-16F56AB8FD1A}"/>
              </a:ext>
            </a:extLst>
          </p:cNvPr>
          <p:cNvGrpSpPr/>
          <p:nvPr/>
        </p:nvGrpSpPr>
        <p:grpSpPr>
          <a:xfrm>
            <a:off x="264012" y="5360011"/>
            <a:ext cx="5172774" cy="1172184"/>
            <a:chOff x="6919610" y="1435135"/>
            <a:chExt cx="4653866" cy="1172184"/>
          </a:xfrm>
        </p:grpSpPr>
        <p:grpSp>
          <p:nvGrpSpPr>
            <p:cNvPr id="34" name="Group 33">
              <a:extLst>
                <a:ext uri="{FF2B5EF4-FFF2-40B4-BE49-F238E27FC236}">
                  <a16:creationId xmlns:a16="http://schemas.microsoft.com/office/drawing/2014/main" id="{2F10BEBF-CAA9-4E1C-8804-9AD4FEBC11FC}"/>
                </a:ext>
              </a:extLst>
            </p:cNvPr>
            <p:cNvGrpSpPr/>
            <p:nvPr/>
          </p:nvGrpSpPr>
          <p:grpSpPr>
            <a:xfrm>
              <a:off x="6919610" y="1736386"/>
              <a:ext cx="515566" cy="496110"/>
              <a:chOff x="1342417" y="1955260"/>
              <a:chExt cx="603115" cy="584775"/>
            </a:xfrm>
          </p:grpSpPr>
          <p:sp>
            <p:nvSpPr>
              <p:cNvPr id="42" name="Oval 41">
                <a:extLst>
                  <a:ext uri="{FF2B5EF4-FFF2-40B4-BE49-F238E27FC236}">
                    <a16:creationId xmlns:a16="http://schemas.microsoft.com/office/drawing/2014/main" id="{A23A690E-7952-4904-9432-983B4AE651EA}"/>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IN" dirty="0">
                    <a:solidFill>
                      <a:schemeClr val="tx1"/>
                    </a:solidFill>
                  </a:rPr>
                  <a:t>1</a:t>
                </a:r>
              </a:p>
            </p:txBody>
          </p:sp>
          <p:sp>
            <p:nvSpPr>
              <p:cNvPr id="43" name="Oval 42">
                <a:extLst>
                  <a:ext uri="{FF2B5EF4-FFF2-40B4-BE49-F238E27FC236}">
                    <a16:creationId xmlns:a16="http://schemas.microsoft.com/office/drawing/2014/main" id="{86C8023A-F416-463A-8EB7-8AC1B7725EF9}"/>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IN" sz="1600" dirty="0">
                    <a:solidFill>
                      <a:schemeClr val="tx1"/>
                    </a:solidFill>
                    <a:latin typeface="Poppins" panose="020B0604020202020204" charset="0"/>
                    <a:cs typeface="Poppins" panose="020B0604020202020204" charset="0"/>
                  </a:rPr>
                  <a:t>5</a:t>
                </a:r>
              </a:p>
            </p:txBody>
          </p:sp>
        </p:grpSp>
        <p:grpSp>
          <p:nvGrpSpPr>
            <p:cNvPr id="35" name="Group 34">
              <a:extLst>
                <a:ext uri="{FF2B5EF4-FFF2-40B4-BE49-F238E27FC236}">
                  <a16:creationId xmlns:a16="http://schemas.microsoft.com/office/drawing/2014/main" id="{2FD70D27-79C1-4CB8-9C88-50C0AD4D1C43}"/>
                </a:ext>
              </a:extLst>
            </p:cNvPr>
            <p:cNvGrpSpPr/>
            <p:nvPr/>
          </p:nvGrpSpPr>
          <p:grpSpPr>
            <a:xfrm>
              <a:off x="7585136" y="1435135"/>
              <a:ext cx="3988340" cy="1172184"/>
              <a:chOff x="1381328" y="1434829"/>
              <a:chExt cx="3988340" cy="1172184"/>
            </a:xfrm>
          </p:grpSpPr>
          <p:grpSp>
            <p:nvGrpSpPr>
              <p:cNvPr id="36" name="Group 35">
                <a:extLst>
                  <a:ext uri="{FF2B5EF4-FFF2-40B4-BE49-F238E27FC236}">
                    <a16:creationId xmlns:a16="http://schemas.microsoft.com/office/drawing/2014/main" id="{FB466A84-A327-402E-B0EE-240358F469A9}"/>
                  </a:ext>
                </a:extLst>
              </p:cNvPr>
              <p:cNvGrpSpPr/>
              <p:nvPr/>
            </p:nvGrpSpPr>
            <p:grpSpPr>
              <a:xfrm>
                <a:off x="1381328" y="1434829"/>
                <a:ext cx="3988340" cy="1172184"/>
                <a:chOff x="1381328" y="1434829"/>
                <a:chExt cx="3988340" cy="1172184"/>
              </a:xfrm>
            </p:grpSpPr>
            <p:grpSp>
              <p:nvGrpSpPr>
                <p:cNvPr id="38" name="Group 37">
                  <a:extLst>
                    <a:ext uri="{FF2B5EF4-FFF2-40B4-BE49-F238E27FC236}">
                      <a16:creationId xmlns:a16="http://schemas.microsoft.com/office/drawing/2014/main" id="{E38C62B5-1764-446B-B8BD-582328EDE665}"/>
                    </a:ext>
                  </a:extLst>
                </p:cNvPr>
                <p:cNvGrpSpPr/>
                <p:nvPr/>
              </p:nvGrpSpPr>
              <p:grpSpPr>
                <a:xfrm>
                  <a:off x="1381328" y="1434829"/>
                  <a:ext cx="3988340" cy="1172184"/>
                  <a:chOff x="1381328" y="1434829"/>
                  <a:chExt cx="3988340" cy="1172184"/>
                </a:xfrm>
              </p:grpSpPr>
              <p:sp>
                <p:nvSpPr>
                  <p:cNvPr id="40" name="Rectangle: Rounded Corners 39">
                    <a:extLst>
                      <a:ext uri="{FF2B5EF4-FFF2-40B4-BE49-F238E27FC236}">
                        <a16:creationId xmlns:a16="http://schemas.microsoft.com/office/drawing/2014/main" id="{2EF5203A-A08B-49A0-AE56-3C8F4E786575}"/>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IN" dirty="0">
                        <a:solidFill>
                          <a:schemeClr val="tx1"/>
                        </a:solidFill>
                      </a:rPr>
                      <a:t>De</a:t>
                    </a:r>
                  </a:p>
                </p:txBody>
              </p:sp>
              <p:sp>
                <p:nvSpPr>
                  <p:cNvPr id="41" name="Rectangle: Rounded Corners 40">
                    <a:extLst>
                      <a:ext uri="{FF2B5EF4-FFF2-40B4-BE49-F238E27FC236}">
                        <a16:creationId xmlns:a16="http://schemas.microsoft.com/office/drawing/2014/main" id="{DA02AB28-1830-431E-983F-6887ADC3BDD6}"/>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IN">
                      <a:solidFill>
                        <a:schemeClr val="tx1"/>
                      </a:solidFill>
                    </a:endParaRPr>
                  </a:p>
                </p:txBody>
              </p:sp>
            </p:grpSp>
            <p:sp>
              <p:nvSpPr>
                <p:cNvPr id="39" name="TextBox 49">
                  <a:extLst>
                    <a:ext uri="{FF2B5EF4-FFF2-40B4-BE49-F238E27FC236}">
                      <a16:creationId xmlns:a16="http://schemas.microsoft.com/office/drawing/2014/main" id="{CCFB88F7-E9DF-47EA-9A63-46EC97BB4623}"/>
                    </a:ext>
                  </a:extLst>
                </p:cNvPr>
                <p:cNvSpPr txBox="1"/>
                <p:nvPr/>
              </p:nvSpPr>
              <p:spPr>
                <a:xfrm>
                  <a:off x="1569398" y="1444250"/>
                  <a:ext cx="3204851" cy="338554"/>
                </a:xfrm>
                <a:prstGeom prst="rect">
                  <a:avLst/>
                </a:prstGeom>
                <a:noFill/>
              </p:spPr>
              <p:txBody>
                <a:bodyPr wrap="none" rtlCol="0">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600" b="1" i="0" u="none" strike="noStrike" cap="none">
                      <a:solidFill>
                        <a:schemeClr val="bg1">
                          <a:lumMod val="95000"/>
                        </a:schemeClr>
                      </a:solidFill>
                      <a:latin typeface="Poppins" panose="020B0604020202020204" charset="0"/>
                      <a:ea typeface="Arial"/>
                      <a:cs typeface="Poppins" panose="020B060402020202020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solidFill>
                        <a:schemeClr val="tx1"/>
                      </a:solidFill>
                    </a:rPr>
                    <a:t>Exploratory Data Analysis (EDA)</a:t>
                  </a:r>
                </a:p>
              </p:txBody>
            </p:sp>
          </p:grpSp>
          <p:sp>
            <p:nvSpPr>
              <p:cNvPr id="37" name="TextBox 47">
                <a:extLst>
                  <a:ext uri="{FF2B5EF4-FFF2-40B4-BE49-F238E27FC236}">
                    <a16:creationId xmlns:a16="http://schemas.microsoft.com/office/drawing/2014/main" id="{E03AD762-7D6E-4041-9E82-C8162B932722}"/>
                  </a:ext>
                </a:extLst>
              </p:cNvPr>
              <p:cNvSpPr txBox="1"/>
              <p:nvPr/>
            </p:nvSpPr>
            <p:spPr>
              <a:xfrm>
                <a:off x="1528064" y="1893064"/>
                <a:ext cx="3603279"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GB" dirty="0">
                    <a:solidFill>
                      <a:schemeClr val="tx1"/>
                    </a:solidFill>
                    <a:latin typeface="Poppins" panose="020B0604020202020204" charset="0"/>
                    <a:cs typeface="Poppins" panose="020B0604020202020204" charset="0"/>
                  </a:rPr>
                  <a:t>Visualize trends, compare performance, and extract key insights.</a:t>
                </a:r>
                <a:endParaRPr lang="en-IN" dirty="0">
                  <a:solidFill>
                    <a:schemeClr val="tx1"/>
                  </a:solidFill>
                  <a:latin typeface="Poppins" panose="020B0604020202020204" charset="0"/>
                  <a:cs typeface="Poppins" panose="020B0604020202020204" charset="0"/>
                </a:endParaRPr>
              </a:p>
            </p:txBody>
          </p:sp>
        </p:grpSp>
      </p:grpSp>
      <p:grpSp>
        <p:nvGrpSpPr>
          <p:cNvPr id="9" name="Group 8">
            <a:extLst>
              <a:ext uri="{FF2B5EF4-FFF2-40B4-BE49-F238E27FC236}">
                <a16:creationId xmlns:a16="http://schemas.microsoft.com/office/drawing/2014/main" id="{72B13C1E-3853-4A2C-BFA8-EA9291EB86D9}"/>
              </a:ext>
            </a:extLst>
          </p:cNvPr>
          <p:cNvGrpSpPr/>
          <p:nvPr/>
        </p:nvGrpSpPr>
        <p:grpSpPr>
          <a:xfrm>
            <a:off x="6894809" y="5341739"/>
            <a:ext cx="5098670" cy="1190510"/>
            <a:chOff x="6919610" y="1435135"/>
            <a:chExt cx="4653866" cy="1172184"/>
          </a:xfrm>
        </p:grpSpPr>
        <p:grpSp>
          <p:nvGrpSpPr>
            <p:cNvPr id="24" name="Group 23">
              <a:extLst>
                <a:ext uri="{FF2B5EF4-FFF2-40B4-BE49-F238E27FC236}">
                  <a16:creationId xmlns:a16="http://schemas.microsoft.com/office/drawing/2014/main" id="{110D2896-6330-44DF-BCBE-D030ED21923C}"/>
                </a:ext>
              </a:extLst>
            </p:cNvPr>
            <p:cNvGrpSpPr/>
            <p:nvPr/>
          </p:nvGrpSpPr>
          <p:grpSpPr>
            <a:xfrm>
              <a:off x="6919610" y="1736386"/>
              <a:ext cx="515566" cy="496110"/>
              <a:chOff x="1342417" y="1955260"/>
              <a:chExt cx="603115" cy="584775"/>
            </a:xfrm>
          </p:grpSpPr>
          <p:sp>
            <p:nvSpPr>
              <p:cNvPr id="32" name="Oval 31">
                <a:extLst>
                  <a:ext uri="{FF2B5EF4-FFF2-40B4-BE49-F238E27FC236}">
                    <a16:creationId xmlns:a16="http://schemas.microsoft.com/office/drawing/2014/main" id="{333211AA-D5D4-48C2-A12C-CCB8B7CE85C0}"/>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IN" dirty="0">
                    <a:solidFill>
                      <a:schemeClr val="tx1"/>
                    </a:solidFill>
                  </a:rPr>
                  <a:t>1</a:t>
                </a:r>
              </a:p>
            </p:txBody>
          </p:sp>
          <p:sp>
            <p:nvSpPr>
              <p:cNvPr id="33" name="Oval 32">
                <a:extLst>
                  <a:ext uri="{FF2B5EF4-FFF2-40B4-BE49-F238E27FC236}">
                    <a16:creationId xmlns:a16="http://schemas.microsoft.com/office/drawing/2014/main" id="{BC36FB47-425A-4D7F-B668-948636DEDBEC}"/>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IN" sz="1600" dirty="0">
                    <a:solidFill>
                      <a:schemeClr val="tx1"/>
                    </a:solidFill>
                    <a:latin typeface="Poppins" panose="020B0604020202020204" charset="0"/>
                    <a:cs typeface="Poppins" panose="020B0604020202020204" charset="0"/>
                  </a:rPr>
                  <a:t>6</a:t>
                </a:r>
              </a:p>
            </p:txBody>
          </p:sp>
        </p:grpSp>
        <p:grpSp>
          <p:nvGrpSpPr>
            <p:cNvPr id="25" name="Group 24">
              <a:extLst>
                <a:ext uri="{FF2B5EF4-FFF2-40B4-BE49-F238E27FC236}">
                  <a16:creationId xmlns:a16="http://schemas.microsoft.com/office/drawing/2014/main" id="{E0E4E9CE-06FE-4A1A-AEDB-A3115758DB6B}"/>
                </a:ext>
              </a:extLst>
            </p:cNvPr>
            <p:cNvGrpSpPr/>
            <p:nvPr/>
          </p:nvGrpSpPr>
          <p:grpSpPr>
            <a:xfrm>
              <a:off x="7585136" y="1435135"/>
              <a:ext cx="3988340" cy="1172184"/>
              <a:chOff x="1381328" y="1434829"/>
              <a:chExt cx="3988340" cy="1172184"/>
            </a:xfrm>
          </p:grpSpPr>
          <p:grpSp>
            <p:nvGrpSpPr>
              <p:cNvPr id="26" name="Group 25">
                <a:extLst>
                  <a:ext uri="{FF2B5EF4-FFF2-40B4-BE49-F238E27FC236}">
                    <a16:creationId xmlns:a16="http://schemas.microsoft.com/office/drawing/2014/main" id="{1AB8E4A4-F199-4A40-ADCF-4C974F31936D}"/>
                  </a:ext>
                </a:extLst>
              </p:cNvPr>
              <p:cNvGrpSpPr/>
              <p:nvPr/>
            </p:nvGrpSpPr>
            <p:grpSpPr>
              <a:xfrm>
                <a:off x="1381328" y="1434829"/>
                <a:ext cx="3988340" cy="1172184"/>
                <a:chOff x="1381328" y="1434829"/>
                <a:chExt cx="3988340" cy="1172184"/>
              </a:xfrm>
            </p:grpSpPr>
            <p:grpSp>
              <p:nvGrpSpPr>
                <p:cNvPr id="28" name="Group 27">
                  <a:extLst>
                    <a:ext uri="{FF2B5EF4-FFF2-40B4-BE49-F238E27FC236}">
                      <a16:creationId xmlns:a16="http://schemas.microsoft.com/office/drawing/2014/main" id="{6060757E-3A57-4E72-8521-B3500CC3B70E}"/>
                    </a:ext>
                  </a:extLst>
                </p:cNvPr>
                <p:cNvGrpSpPr/>
                <p:nvPr/>
              </p:nvGrpSpPr>
              <p:grpSpPr>
                <a:xfrm>
                  <a:off x="1381328" y="1434829"/>
                  <a:ext cx="3988340" cy="1172184"/>
                  <a:chOff x="1381328" y="1434829"/>
                  <a:chExt cx="3988340" cy="1172184"/>
                </a:xfrm>
              </p:grpSpPr>
              <p:sp>
                <p:nvSpPr>
                  <p:cNvPr id="30" name="Rectangle: Rounded Corners 29">
                    <a:extLst>
                      <a:ext uri="{FF2B5EF4-FFF2-40B4-BE49-F238E27FC236}">
                        <a16:creationId xmlns:a16="http://schemas.microsoft.com/office/drawing/2014/main" id="{C9F6EF91-EEB2-4200-ACFE-2EA2A0C10A7C}"/>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IN" dirty="0">
                        <a:solidFill>
                          <a:schemeClr val="tx1"/>
                        </a:solidFill>
                      </a:rPr>
                      <a:t>De</a:t>
                    </a:r>
                  </a:p>
                </p:txBody>
              </p:sp>
              <p:sp>
                <p:nvSpPr>
                  <p:cNvPr id="31" name="Rectangle: Rounded Corners 30">
                    <a:extLst>
                      <a:ext uri="{FF2B5EF4-FFF2-40B4-BE49-F238E27FC236}">
                        <a16:creationId xmlns:a16="http://schemas.microsoft.com/office/drawing/2014/main" id="{ACD131EC-6919-4C50-A80F-27A3831A01A7}"/>
                      </a:ext>
                    </a:extLst>
                  </p:cNvPr>
                  <p:cNvSpPr/>
                  <p:nvPr/>
                </p:nvSpPr>
                <p:spPr>
                  <a:xfrm>
                    <a:off x="1408451" y="1795147"/>
                    <a:ext cx="3961217" cy="80084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IN">
                      <a:solidFill>
                        <a:schemeClr val="tx1"/>
                      </a:solidFill>
                    </a:endParaRPr>
                  </a:p>
                </p:txBody>
              </p:sp>
            </p:grpSp>
            <p:sp>
              <p:nvSpPr>
                <p:cNvPr id="29" name="TextBox 60">
                  <a:extLst>
                    <a:ext uri="{FF2B5EF4-FFF2-40B4-BE49-F238E27FC236}">
                      <a16:creationId xmlns:a16="http://schemas.microsoft.com/office/drawing/2014/main" id="{D5D5ED60-A3EA-45E9-97D8-1F08E47E6C2F}"/>
                    </a:ext>
                  </a:extLst>
                </p:cNvPr>
                <p:cNvSpPr txBox="1"/>
                <p:nvPr/>
              </p:nvSpPr>
              <p:spPr>
                <a:xfrm>
                  <a:off x="1408452" y="1443865"/>
                  <a:ext cx="3829928" cy="393951"/>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600" b="1" dirty="0">
                      <a:solidFill>
                        <a:schemeClr val="tx1"/>
                      </a:solidFill>
                      <a:latin typeface="Poppins" panose="020B0604020202020204" charset="0"/>
                      <a:cs typeface="Poppins" panose="020B0604020202020204" charset="0"/>
                    </a:rPr>
                    <a:t>Dashboarding</a:t>
                  </a:r>
                  <a:r>
                    <a:rPr lang="en-IN" sz="2000" dirty="0">
                      <a:solidFill>
                        <a:schemeClr val="tx1"/>
                      </a:solidFill>
                    </a:rPr>
                    <a:t> </a:t>
                  </a:r>
                  <a:r>
                    <a:rPr lang="en-IN" sz="1600" b="1" dirty="0">
                      <a:solidFill>
                        <a:schemeClr val="tx1"/>
                      </a:solidFill>
                      <a:latin typeface="Poppins" panose="020B0604020202020204" charset="0"/>
                      <a:cs typeface="Poppins" panose="020B0604020202020204" charset="0"/>
                    </a:rPr>
                    <a:t>&amp;</a:t>
                  </a:r>
                  <a:r>
                    <a:rPr lang="en-IN" sz="2000" dirty="0">
                      <a:solidFill>
                        <a:schemeClr val="tx1"/>
                      </a:solidFill>
                    </a:rPr>
                    <a:t> </a:t>
                  </a:r>
                  <a:r>
                    <a:rPr lang="en-IN" sz="1600" b="1" dirty="0">
                      <a:solidFill>
                        <a:schemeClr val="tx1"/>
                      </a:solidFill>
                      <a:latin typeface="Poppins" panose="020B0604020202020204" charset="0"/>
                      <a:cs typeface="Poppins" panose="020B0604020202020204" charset="0"/>
                    </a:rPr>
                    <a:t>Recommendations</a:t>
                  </a:r>
                </a:p>
              </p:txBody>
            </p:sp>
          </p:grpSp>
          <p:sp>
            <p:nvSpPr>
              <p:cNvPr id="27" name="TextBox 58">
                <a:extLst>
                  <a:ext uri="{FF2B5EF4-FFF2-40B4-BE49-F238E27FC236}">
                    <a16:creationId xmlns:a16="http://schemas.microsoft.com/office/drawing/2014/main" id="{E91E3C3A-3821-404A-ADC1-9EF6E819833C}"/>
                  </a:ext>
                </a:extLst>
              </p:cNvPr>
              <p:cNvSpPr txBox="1"/>
              <p:nvPr/>
            </p:nvSpPr>
            <p:spPr>
              <a:xfrm>
                <a:off x="1562185" y="1893064"/>
                <a:ext cx="3569158"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GB" dirty="0">
                    <a:solidFill>
                      <a:schemeClr val="tx1"/>
                    </a:solidFill>
                    <a:latin typeface="Poppins" panose="020B0604020202020204" charset="0"/>
                    <a:cs typeface="Poppins" panose="020B0604020202020204" charset="0"/>
                  </a:rPr>
                  <a:t>Build Power BI dashboard and present strategic findings.</a:t>
                </a:r>
                <a:endParaRPr lang="en-IN" dirty="0">
                  <a:solidFill>
                    <a:schemeClr val="tx1"/>
                  </a:solidFill>
                  <a:latin typeface="Poppins" panose="020B0604020202020204" charset="0"/>
                  <a:cs typeface="Poppins" panose="020B0604020202020204" charset="0"/>
                </a:endParaRPr>
              </a:p>
            </p:txBody>
          </p:sp>
        </p:grpSp>
      </p:grpSp>
      <p:grpSp>
        <p:nvGrpSpPr>
          <p:cNvPr id="10" name="Group 9">
            <a:extLst>
              <a:ext uri="{FF2B5EF4-FFF2-40B4-BE49-F238E27FC236}">
                <a16:creationId xmlns:a16="http://schemas.microsoft.com/office/drawing/2014/main" id="{083E314C-FD29-4853-A3B8-B4A0D19F605D}"/>
              </a:ext>
            </a:extLst>
          </p:cNvPr>
          <p:cNvGrpSpPr/>
          <p:nvPr/>
        </p:nvGrpSpPr>
        <p:grpSpPr>
          <a:xfrm>
            <a:off x="6822432" y="3356551"/>
            <a:ext cx="5171047" cy="1172184"/>
            <a:chOff x="6919610" y="1435135"/>
            <a:chExt cx="4653866" cy="1172184"/>
          </a:xfrm>
        </p:grpSpPr>
        <p:grpSp>
          <p:nvGrpSpPr>
            <p:cNvPr id="14" name="Group 13">
              <a:extLst>
                <a:ext uri="{FF2B5EF4-FFF2-40B4-BE49-F238E27FC236}">
                  <a16:creationId xmlns:a16="http://schemas.microsoft.com/office/drawing/2014/main" id="{CB5166AC-044A-438B-BE88-D3A913A5DC12}"/>
                </a:ext>
              </a:extLst>
            </p:cNvPr>
            <p:cNvGrpSpPr/>
            <p:nvPr/>
          </p:nvGrpSpPr>
          <p:grpSpPr>
            <a:xfrm>
              <a:off x="6919610" y="1736386"/>
              <a:ext cx="515566" cy="496110"/>
              <a:chOff x="1342417" y="1955260"/>
              <a:chExt cx="603115" cy="584775"/>
            </a:xfrm>
          </p:grpSpPr>
          <p:sp>
            <p:nvSpPr>
              <p:cNvPr id="22" name="Oval 21">
                <a:extLst>
                  <a:ext uri="{FF2B5EF4-FFF2-40B4-BE49-F238E27FC236}">
                    <a16:creationId xmlns:a16="http://schemas.microsoft.com/office/drawing/2014/main" id="{CD174C2B-4C25-496A-916E-6EC07BF44514}"/>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IN" dirty="0">
                    <a:solidFill>
                      <a:schemeClr val="tx1"/>
                    </a:solidFill>
                  </a:rPr>
                  <a:t>1</a:t>
                </a:r>
              </a:p>
            </p:txBody>
          </p:sp>
          <p:sp>
            <p:nvSpPr>
              <p:cNvPr id="23" name="Oval 22">
                <a:extLst>
                  <a:ext uri="{FF2B5EF4-FFF2-40B4-BE49-F238E27FC236}">
                    <a16:creationId xmlns:a16="http://schemas.microsoft.com/office/drawing/2014/main" id="{71449820-6234-4F87-9A9A-EF0F3A52A94B}"/>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IN" sz="1600" dirty="0">
                    <a:solidFill>
                      <a:schemeClr val="tx1"/>
                    </a:solidFill>
                    <a:latin typeface="Poppins" panose="020B0604020202020204" charset="0"/>
                    <a:cs typeface="Poppins" panose="020B0604020202020204" charset="0"/>
                  </a:rPr>
                  <a:t>3</a:t>
                </a:r>
              </a:p>
            </p:txBody>
          </p:sp>
        </p:grpSp>
        <p:grpSp>
          <p:nvGrpSpPr>
            <p:cNvPr id="15" name="Group 14">
              <a:extLst>
                <a:ext uri="{FF2B5EF4-FFF2-40B4-BE49-F238E27FC236}">
                  <a16:creationId xmlns:a16="http://schemas.microsoft.com/office/drawing/2014/main" id="{FA2FF067-0F24-4F0E-BB1C-B267C0AB36F0}"/>
                </a:ext>
              </a:extLst>
            </p:cNvPr>
            <p:cNvGrpSpPr/>
            <p:nvPr/>
          </p:nvGrpSpPr>
          <p:grpSpPr>
            <a:xfrm>
              <a:off x="7585136" y="1435135"/>
              <a:ext cx="3988340" cy="1172184"/>
              <a:chOff x="1381328" y="1434829"/>
              <a:chExt cx="3988340" cy="1172184"/>
            </a:xfrm>
          </p:grpSpPr>
          <p:grpSp>
            <p:nvGrpSpPr>
              <p:cNvPr id="16" name="Group 15">
                <a:extLst>
                  <a:ext uri="{FF2B5EF4-FFF2-40B4-BE49-F238E27FC236}">
                    <a16:creationId xmlns:a16="http://schemas.microsoft.com/office/drawing/2014/main" id="{9D0BC41F-907D-4514-8C9C-E73AEF850A4A}"/>
                  </a:ext>
                </a:extLst>
              </p:cNvPr>
              <p:cNvGrpSpPr/>
              <p:nvPr/>
            </p:nvGrpSpPr>
            <p:grpSpPr>
              <a:xfrm>
                <a:off x="1381328" y="1434829"/>
                <a:ext cx="3988340" cy="1172184"/>
                <a:chOff x="1381328" y="1434829"/>
                <a:chExt cx="3988340" cy="1172184"/>
              </a:xfrm>
            </p:grpSpPr>
            <p:grpSp>
              <p:nvGrpSpPr>
                <p:cNvPr id="18" name="Group 17">
                  <a:extLst>
                    <a:ext uri="{FF2B5EF4-FFF2-40B4-BE49-F238E27FC236}">
                      <a16:creationId xmlns:a16="http://schemas.microsoft.com/office/drawing/2014/main" id="{892EABF6-5D86-4055-91E0-A615C2AC3E8F}"/>
                    </a:ext>
                  </a:extLst>
                </p:cNvPr>
                <p:cNvGrpSpPr/>
                <p:nvPr/>
              </p:nvGrpSpPr>
              <p:grpSpPr>
                <a:xfrm>
                  <a:off x="1381328" y="1434829"/>
                  <a:ext cx="3988340" cy="1172184"/>
                  <a:chOff x="1381328" y="1434829"/>
                  <a:chExt cx="3988340" cy="1172184"/>
                </a:xfrm>
              </p:grpSpPr>
              <p:sp>
                <p:nvSpPr>
                  <p:cNvPr id="20" name="Rectangle: Rounded Corners 19">
                    <a:extLst>
                      <a:ext uri="{FF2B5EF4-FFF2-40B4-BE49-F238E27FC236}">
                        <a16:creationId xmlns:a16="http://schemas.microsoft.com/office/drawing/2014/main" id="{C346E881-C62B-4D7C-9B95-A54F2ED586A2}"/>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IN" dirty="0">
                        <a:solidFill>
                          <a:schemeClr val="tx1"/>
                        </a:solidFill>
                      </a:rPr>
                      <a:t>De</a:t>
                    </a:r>
                  </a:p>
                </p:txBody>
              </p:sp>
              <p:sp>
                <p:nvSpPr>
                  <p:cNvPr id="21" name="Rectangle: Rounded Corners 20">
                    <a:extLst>
                      <a:ext uri="{FF2B5EF4-FFF2-40B4-BE49-F238E27FC236}">
                        <a16:creationId xmlns:a16="http://schemas.microsoft.com/office/drawing/2014/main" id="{F0A7A4F5-E0B6-4EFE-9737-634C9FC71115}"/>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IN">
                      <a:solidFill>
                        <a:schemeClr val="tx1"/>
                      </a:solidFill>
                    </a:endParaRPr>
                  </a:p>
                </p:txBody>
              </p:sp>
            </p:grpSp>
            <p:sp>
              <p:nvSpPr>
                <p:cNvPr id="19" name="TextBox 71">
                  <a:extLst>
                    <a:ext uri="{FF2B5EF4-FFF2-40B4-BE49-F238E27FC236}">
                      <a16:creationId xmlns:a16="http://schemas.microsoft.com/office/drawing/2014/main" id="{A2CD427E-0952-4B14-B432-2BE2E30E4A11}"/>
                    </a:ext>
                  </a:extLst>
                </p:cNvPr>
                <p:cNvSpPr txBox="1"/>
                <p:nvPr/>
              </p:nvSpPr>
              <p:spPr>
                <a:xfrm>
                  <a:off x="1562185" y="1443506"/>
                  <a:ext cx="3318450" cy="338554"/>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600" b="1" dirty="0">
                      <a:solidFill>
                        <a:schemeClr val="tx1"/>
                      </a:solidFill>
                      <a:latin typeface="Poppins" panose="020B0604020202020204" charset="0"/>
                      <a:cs typeface="Poppins" panose="020B0604020202020204" charset="0"/>
                    </a:rPr>
                    <a:t>Data Loading &amp; Initial Exploration</a:t>
                  </a:r>
                </a:p>
              </p:txBody>
            </p:sp>
          </p:grpSp>
          <p:sp>
            <p:nvSpPr>
              <p:cNvPr id="17" name="TextBox 69">
                <a:extLst>
                  <a:ext uri="{FF2B5EF4-FFF2-40B4-BE49-F238E27FC236}">
                    <a16:creationId xmlns:a16="http://schemas.microsoft.com/office/drawing/2014/main" id="{69E30CEB-3954-4594-84AC-00D2BD922791}"/>
                  </a:ext>
                </a:extLst>
              </p:cNvPr>
              <p:cNvSpPr txBox="1"/>
              <p:nvPr/>
            </p:nvSpPr>
            <p:spPr>
              <a:xfrm>
                <a:off x="1562185" y="1893064"/>
                <a:ext cx="362209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GB" dirty="0">
                    <a:solidFill>
                      <a:schemeClr val="tx1"/>
                    </a:solidFill>
                    <a:latin typeface="Poppins" panose="020B0604020202020204" charset="0"/>
                    <a:cs typeface="Poppins" panose="020B0604020202020204" charset="0"/>
                  </a:rPr>
                  <a:t>Load into Colab for initial profiling and data understanding using Python.</a:t>
                </a:r>
                <a:endParaRPr lang="en-IN" dirty="0">
                  <a:solidFill>
                    <a:schemeClr val="tx1"/>
                  </a:solidFill>
                  <a:latin typeface="Poppins" panose="020B0604020202020204" charset="0"/>
                  <a:cs typeface="Poppins" panose="020B0604020202020204" charset="0"/>
                </a:endParaRPr>
              </a:p>
            </p:txBody>
          </p:sp>
        </p:grpSp>
      </p:grpSp>
      <p:sp>
        <p:nvSpPr>
          <p:cNvPr id="11" name="Arrow: Right 10">
            <a:extLst>
              <a:ext uri="{FF2B5EF4-FFF2-40B4-BE49-F238E27FC236}">
                <a16:creationId xmlns:a16="http://schemas.microsoft.com/office/drawing/2014/main" id="{07B9B53A-B034-4382-A896-C2726EE95972}"/>
              </a:ext>
            </a:extLst>
          </p:cNvPr>
          <p:cNvSpPr/>
          <p:nvPr/>
        </p:nvSpPr>
        <p:spPr>
          <a:xfrm>
            <a:off x="5665387" y="1856053"/>
            <a:ext cx="884904" cy="233816"/>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IN">
              <a:solidFill>
                <a:schemeClr val="tx1"/>
              </a:solidFill>
            </a:endParaRPr>
          </a:p>
        </p:txBody>
      </p:sp>
      <p:sp>
        <p:nvSpPr>
          <p:cNvPr id="12" name="Arrow: Right 11">
            <a:extLst>
              <a:ext uri="{FF2B5EF4-FFF2-40B4-BE49-F238E27FC236}">
                <a16:creationId xmlns:a16="http://schemas.microsoft.com/office/drawing/2014/main" id="{3889887A-74E6-40EB-B837-1877233C60FC}"/>
              </a:ext>
            </a:extLst>
          </p:cNvPr>
          <p:cNvSpPr/>
          <p:nvPr/>
        </p:nvSpPr>
        <p:spPr>
          <a:xfrm flipH="1">
            <a:off x="5687158" y="3771150"/>
            <a:ext cx="884903" cy="252881"/>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IN">
              <a:solidFill>
                <a:schemeClr val="tx1"/>
              </a:solidFill>
            </a:endParaRPr>
          </a:p>
        </p:txBody>
      </p:sp>
      <p:sp>
        <p:nvSpPr>
          <p:cNvPr id="13" name="Arrow: Right 12">
            <a:extLst>
              <a:ext uri="{FF2B5EF4-FFF2-40B4-BE49-F238E27FC236}">
                <a16:creationId xmlns:a16="http://schemas.microsoft.com/office/drawing/2014/main" id="{1BEB75ED-733C-42F9-A05E-32835DF6F647}"/>
              </a:ext>
            </a:extLst>
          </p:cNvPr>
          <p:cNvSpPr/>
          <p:nvPr/>
        </p:nvSpPr>
        <p:spPr>
          <a:xfrm>
            <a:off x="5774245" y="5792409"/>
            <a:ext cx="884904" cy="233816"/>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IN">
              <a:solidFill>
                <a:schemeClr val="tx1"/>
              </a:solidFill>
            </a:endParaRPr>
          </a:p>
        </p:txBody>
      </p:sp>
    </p:spTree>
    <p:extLst>
      <p:ext uri="{BB962C8B-B14F-4D97-AF65-F5344CB8AC3E}">
        <p14:creationId xmlns:p14="http://schemas.microsoft.com/office/powerpoint/2010/main" val="23882992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A7E22-2D7F-2956-A2FC-1C876ADD112E}"/>
              </a:ext>
            </a:extLst>
          </p:cNvPr>
          <p:cNvSpPr>
            <a:spLocks noGrp="1"/>
          </p:cNvSpPr>
          <p:nvPr>
            <p:ph type="title"/>
          </p:nvPr>
        </p:nvSpPr>
        <p:spPr>
          <a:xfrm>
            <a:off x="0" y="1"/>
            <a:ext cx="12192000" cy="1690688"/>
          </a:xfrm>
        </p:spPr>
        <p:txBody>
          <a:bodyPr/>
          <a:lstStyle/>
          <a:p>
            <a:r>
              <a:rPr lang="en-GB" b="1" dirty="0">
                <a:solidFill>
                  <a:schemeClr val="tx1">
                    <a:lumMod val="75000"/>
                    <a:lumOff val="25000"/>
                  </a:schemeClr>
                </a:solidFill>
                <a:cs typeface="Poppins" panose="020B0604020202020204" charset="0"/>
              </a:rPr>
              <a:t>Raw Dataset Structure  –  Before Processing</a:t>
            </a:r>
            <a:endParaRPr lang="en-US" b="1" dirty="0"/>
          </a:p>
        </p:txBody>
      </p:sp>
      <p:sp>
        <p:nvSpPr>
          <p:cNvPr id="3" name="Content Placeholder 2">
            <a:extLst>
              <a:ext uri="{FF2B5EF4-FFF2-40B4-BE49-F238E27FC236}">
                <a16:creationId xmlns:a16="http://schemas.microsoft.com/office/drawing/2014/main" id="{BB55B7BF-6F5D-2E07-D26A-80DCDBFB4B18}"/>
              </a:ext>
            </a:extLst>
          </p:cNvPr>
          <p:cNvSpPr>
            <a:spLocks noGrp="1"/>
          </p:cNvSpPr>
          <p:nvPr>
            <p:ph idx="1"/>
          </p:nvPr>
        </p:nvSpPr>
        <p:spPr>
          <a:xfrm>
            <a:off x="0" y="2173968"/>
            <a:ext cx="12192000" cy="1723118"/>
          </a:xfrm>
        </p:spPr>
        <p:txBody>
          <a:bodyPr/>
          <a:lstStyle/>
          <a:p>
            <a:pPr marL="0" indent="0">
              <a:buNone/>
            </a:pPr>
            <a:r>
              <a:rPr lang="en-GB" dirty="0">
                <a:solidFill>
                  <a:schemeClr val="tx1">
                    <a:lumMod val="75000"/>
                    <a:lumOff val="25000"/>
                  </a:schemeClr>
                </a:solidFill>
                <a:latin typeface="Poppins" panose="020B0604020202020204" charset="0"/>
                <a:cs typeface="Poppins" panose="020B0604020202020204" charset="0"/>
              </a:rPr>
              <a:t>Sales, products, budgets, customers, regions, and states were spread across unlinked tables. No relationships were defined initially— Pre-processing was required to clean, normalize, and join them for analysis.</a:t>
            </a:r>
            <a:endParaRPr lang="en-IN" dirty="0">
              <a:solidFill>
                <a:schemeClr val="tx1">
                  <a:lumMod val="75000"/>
                  <a:lumOff val="25000"/>
                </a:schemeClr>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30830402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6E191-9213-1D52-03BF-4244CA0C2BF2}"/>
              </a:ext>
            </a:extLst>
          </p:cNvPr>
          <p:cNvSpPr>
            <a:spLocks noGrp="1"/>
          </p:cNvSpPr>
          <p:nvPr>
            <p:ph type="title"/>
          </p:nvPr>
        </p:nvSpPr>
        <p:spPr>
          <a:xfrm>
            <a:off x="10885" y="21771"/>
            <a:ext cx="12496801" cy="1306286"/>
          </a:xfrm>
          <a:solidFill>
            <a:schemeClr val="accent6">
              <a:lumMod val="20000"/>
              <a:lumOff val="80000"/>
            </a:schemeClr>
          </a:solidFill>
        </p:spPr>
        <p:txBody>
          <a:bodyPr/>
          <a:lstStyle/>
          <a:p>
            <a:pPr>
              <a:lnSpc>
                <a:spcPct val="100000"/>
              </a:lnSpc>
            </a:pPr>
            <a:r>
              <a:rPr lang="en-IN" b="1" dirty="0">
                <a:solidFill>
                  <a:schemeClr val="tx1">
                    <a:lumMod val="75000"/>
                    <a:lumOff val="25000"/>
                  </a:schemeClr>
                </a:solidFill>
              </a:rPr>
              <a:t>Exploratory Data Analysis (EDA) </a:t>
            </a:r>
            <a:endParaRPr lang="en-US" b="1" dirty="0"/>
          </a:p>
        </p:txBody>
      </p:sp>
      <p:sp>
        <p:nvSpPr>
          <p:cNvPr id="4" name="Content Placeholder 2">
            <a:extLst>
              <a:ext uri="{FF2B5EF4-FFF2-40B4-BE49-F238E27FC236}">
                <a16:creationId xmlns:a16="http://schemas.microsoft.com/office/drawing/2014/main" id="{3C72D950-951F-7571-5F04-83E66BF10E7D}"/>
              </a:ext>
            </a:extLst>
          </p:cNvPr>
          <p:cNvSpPr txBox="1">
            <a:spLocks/>
          </p:cNvSpPr>
          <p:nvPr/>
        </p:nvSpPr>
        <p:spPr>
          <a:xfrm>
            <a:off x="0" y="1505945"/>
            <a:ext cx="12083142" cy="591004"/>
          </a:xfrm>
          <a:prstGeom prst="rect">
            <a:avLst/>
          </a:prstGeom>
          <a:solidFill>
            <a:schemeClr val="bg2"/>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Finding patterns, trends, and insights from past data.</a:t>
            </a:r>
          </a:p>
        </p:txBody>
      </p:sp>
      <p:sp>
        <p:nvSpPr>
          <p:cNvPr id="8" name="TextBox 7">
            <a:extLst>
              <a:ext uri="{FF2B5EF4-FFF2-40B4-BE49-F238E27FC236}">
                <a16:creationId xmlns:a16="http://schemas.microsoft.com/office/drawing/2014/main" id="{5FD8EFCA-F5C7-AC85-CE54-CD244C3B9DDD}"/>
              </a:ext>
            </a:extLst>
          </p:cNvPr>
          <p:cNvSpPr txBox="1"/>
          <p:nvPr/>
        </p:nvSpPr>
        <p:spPr>
          <a:xfrm>
            <a:off x="0" y="2514323"/>
            <a:ext cx="12240984" cy="1938992"/>
          </a:xfrm>
          <a:prstGeom prst="rect">
            <a:avLst/>
          </a:prstGeom>
          <a:solidFill>
            <a:schemeClr val="bg2"/>
          </a:solidFill>
        </p:spPr>
        <p:txBody>
          <a:bodyPr wrap="square">
            <a:spAutoFit/>
          </a:bodyPr>
          <a:lstStyle/>
          <a:p>
            <a:r>
              <a:rPr lang="en-GB" sz="2400" dirty="0">
                <a:effectLst/>
                <a:latin typeface="Poppins" panose="020B0604020202020204" charset="0"/>
                <a:cs typeface="Poppins" panose="020B0604020202020204" charset="0"/>
              </a:rPr>
              <a:t>Understanding the “What, Where &amp; Why” behind the sales numbers</a:t>
            </a:r>
          </a:p>
          <a:p>
            <a:br>
              <a:rPr lang="en-GB" sz="2400" dirty="0">
                <a:effectLst/>
                <a:latin typeface="Poppins" panose="020B0604020202020204" charset="0"/>
                <a:cs typeface="Poppins" panose="020B0604020202020204" charset="0"/>
              </a:rPr>
            </a:br>
            <a:r>
              <a:rPr lang="en-GB" sz="2400" dirty="0">
                <a:effectLst/>
                <a:latin typeface="Poppins" panose="020B0604020202020204" charset="0"/>
                <a:cs typeface="Poppins" panose="020B0604020202020204" charset="0"/>
              </a:rPr>
              <a:t>Exploring data through visuals, aggregations, and comparisons</a:t>
            </a:r>
            <a:br>
              <a:rPr lang="en-GB" sz="2400" dirty="0">
                <a:effectLst/>
                <a:latin typeface="Poppins" panose="020B0604020202020204" charset="0"/>
                <a:cs typeface="Poppins" panose="020B0604020202020204" charset="0"/>
              </a:rPr>
            </a:br>
            <a:endParaRPr lang="en-GB" sz="2400" dirty="0">
              <a:effectLst/>
              <a:latin typeface="Poppins" panose="020B0604020202020204" charset="0"/>
              <a:cs typeface="Poppins" panose="020B0604020202020204" charset="0"/>
            </a:endParaRPr>
          </a:p>
          <a:p>
            <a:r>
              <a:rPr lang="en-GB" sz="2400" dirty="0">
                <a:effectLst/>
                <a:latin typeface="Poppins" panose="020B0604020202020204" charset="0"/>
                <a:cs typeface="Poppins" panose="020B0604020202020204" charset="0"/>
              </a:rPr>
              <a:t>Laying the groundwork for informed recommendations</a:t>
            </a:r>
            <a:endParaRPr lang="en-IN" sz="2400" dirty="0">
              <a:latin typeface="Poppins" panose="020B0604020202020204" charset="0"/>
              <a:cs typeface="Poppins" panose="020B0604020202020204" charset="0"/>
            </a:endParaRPr>
          </a:p>
        </p:txBody>
      </p:sp>
      <p:pic>
        <p:nvPicPr>
          <p:cNvPr id="9" name="Picture 8">
            <a:extLst>
              <a:ext uri="{FF2B5EF4-FFF2-40B4-BE49-F238E27FC236}">
                <a16:creationId xmlns:a16="http://schemas.microsoft.com/office/drawing/2014/main" id="{6EE74188-77DA-4BBC-874D-E9DE7066B856}"/>
              </a:ext>
            </a:extLst>
          </p:cNvPr>
          <p:cNvPicPr>
            <a:picLocks noChangeAspect="1"/>
          </p:cNvPicPr>
          <p:nvPr/>
        </p:nvPicPr>
        <p:blipFill>
          <a:blip r:embed="rId2"/>
          <a:stretch>
            <a:fillRect/>
          </a:stretch>
        </p:blipFill>
        <p:spPr>
          <a:xfrm>
            <a:off x="9126514" y="5845629"/>
            <a:ext cx="3065486" cy="685800"/>
          </a:xfrm>
          <a:prstGeom prst="rect">
            <a:avLst/>
          </a:prstGeom>
          <a:ln>
            <a:solidFill>
              <a:schemeClr val="bg2"/>
            </a:solidFill>
          </a:ln>
        </p:spPr>
      </p:pic>
    </p:spTree>
    <p:extLst>
      <p:ext uri="{BB962C8B-B14F-4D97-AF65-F5344CB8AC3E}">
        <p14:creationId xmlns:p14="http://schemas.microsoft.com/office/powerpoint/2010/main" val="622946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8C761-135B-5F68-23DF-B4C83AB8F461}"/>
              </a:ext>
            </a:extLst>
          </p:cNvPr>
          <p:cNvSpPr>
            <a:spLocks noGrp="1"/>
          </p:cNvSpPr>
          <p:nvPr>
            <p:ph type="title"/>
          </p:nvPr>
        </p:nvSpPr>
        <p:spPr>
          <a:xfrm>
            <a:off x="0" y="1"/>
            <a:ext cx="12192000" cy="1426028"/>
          </a:xfrm>
        </p:spPr>
        <p:txBody>
          <a:bodyPr/>
          <a:lstStyle/>
          <a:p>
            <a:r>
              <a:rPr lang="en-GB" dirty="0">
                <a:solidFill>
                  <a:schemeClr val="tx1">
                    <a:lumMod val="75000"/>
                    <a:lumOff val="25000"/>
                  </a:schemeClr>
                </a:solidFill>
                <a:latin typeface="Poppins" panose="020B0604020202020204" charset="0"/>
                <a:cs typeface="Poppins" panose="020B0604020202020204" charset="0"/>
              </a:rPr>
              <a:t>EDA: Step‑by‑Step Process</a:t>
            </a:r>
            <a:endParaRPr lang="en-US" dirty="0"/>
          </a:p>
        </p:txBody>
      </p:sp>
      <p:sp>
        <p:nvSpPr>
          <p:cNvPr id="3" name="Content Placeholder 2">
            <a:extLst>
              <a:ext uri="{FF2B5EF4-FFF2-40B4-BE49-F238E27FC236}">
                <a16:creationId xmlns:a16="http://schemas.microsoft.com/office/drawing/2014/main" id="{8CF44505-A005-B635-5B6A-49C05B10A294}"/>
              </a:ext>
            </a:extLst>
          </p:cNvPr>
          <p:cNvSpPr>
            <a:spLocks noGrp="1"/>
          </p:cNvSpPr>
          <p:nvPr>
            <p:ph idx="1"/>
          </p:nvPr>
        </p:nvSpPr>
        <p:spPr>
          <a:xfrm>
            <a:off x="1012370" y="1690688"/>
            <a:ext cx="11179629" cy="5167312"/>
          </a:xfrm>
        </p:spPr>
        <p:txBody>
          <a:bodyPr>
            <a:normAutofit fontScale="70000" lnSpcReduction="20000"/>
          </a:bodyPr>
          <a:lstStyle/>
          <a:p>
            <a:pPr marL="285750" indent="-285750"/>
            <a:r>
              <a:rPr lang="en-GB" dirty="0">
                <a:latin typeface="Poppins" panose="020B0604020202020204" charset="0"/>
                <a:cs typeface="Poppins" panose="020B0604020202020204" charset="0"/>
              </a:rPr>
              <a:t>Import Libraries</a:t>
            </a:r>
          </a:p>
          <a:p>
            <a:pPr marL="285750" indent="-285750"/>
            <a:endParaRPr lang="en-GB" dirty="0">
              <a:latin typeface="Poppins" panose="020B0604020202020204" charset="0"/>
              <a:cs typeface="Poppins" panose="020B0604020202020204" charset="0"/>
            </a:endParaRPr>
          </a:p>
          <a:p>
            <a:pPr marL="285750" indent="-285750"/>
            <a:r>
              <a:rPr lang="en-GB" dirty="0">
                <a:latin typeface="Poppins" panose="020B0604020202020204" charset="0"/>
                <a:cs typeface="Poppins" panose="020B0604020202020204" charset="0"/>
              </a:rPr>
              <a:t>Load Data</a:t>
            </a:r>
          </a:p>
          <a:p>
            <a:pPr marL="285750" indent="-285750"/>
            <a:endParaRPr lang="en-GB" dirty="0">
              <a:latin typeface="Poppins" panose="020B0604020202020204" charset="0"/>
              <a:cs typeface="Poppins" panose="020B0604020202020204" charset="0"/>
            </a:endParaRPr>
          </a:p>
          <a:p>
            <a:pPr marL="285750" indent="-285750"/>
            <a:r>
              <a:rPr lang="en-GB" dirty="0">
                <a:latin typeface="Poppins" panose="020B0604020202020204" charset="0"/>
                <a:cs typeface="Poppins" panose="020B0604020202020204" charset="0"/>
              </a:rPr>
              <a:t>Initial Exploration</a:t>
            </a:r>
          </a:p>
          <a:p>
            <a:pPr marL="285750" indent="-285750"/>
            <a:endParaRPr lang="en-GB" dirty="0">
              <a:latin typeface="Poppins" panose="020B0604020202020204" charset="0"/>
              <a:cs typeface="Poppins" panose="020B0604020202020204" charset="0"/>
            </a:endParaRPr>
          </a:p>
          <a:p>
            <a:pPr marL="285750" indent="-285750"/>
            <a:r>
              <a:rPr lang="en-GB" dirty="0">
                <a:latin typeface="Poppins" panose="020B0604020202020204" charset="0"/>
                <a:cs typeface="Poppins" panose="020B0604020202020204" charset="0"/>
              </a:rPr>
              <a:t>Pre-processing &amp; Cleaning</a:t>
            </a:r>
          </a:p>
          <a:p>
            <a:pPr marL="285750" indent="-285750"/>
            <a:endParaRPr lang="en-GB" dirty="0">
              <a:latin typeface="Poppins" panose="020B0604020202020204" charset="0"/>
              <a:cs typeface="Poppins" panose="020B0604020202020204" charset="0"/>
            </a:endParaRPr>
          </a:p>
          <a:p>
            <a:pPr marL="285750" indent="-285750"/>
            <a:r>
              <a:rPr lang="en-GB" dirty="0">
                <a:latin typeface="Poppins" panose="020B0604020202020204" charset="0"/>
                <a:cs typeface="Poppins" panose="020B0604020202020204" charset="0"/>
              </a:rPr>
              <a:t>Feature Engineering</a:t>
            </a:r>
          </a:p>
          <a:p>
            <a:pPr marL="285750" indent="-285750"/>
            <a:endParaRPr lang="en-GB" dirty="0">
              <a:latin typeface="Poppins" panose="020B0604020202020204" charset="0"/>
              <a:cs typeface="Poppins" panose="020B0604020202020204" charset="0"/>
            </a:endParaRPr>
          </a:p>
          <a:p>
            <a:pPr marL="285750" indent="-285750"/>
            <a:r>
              <a:rPr lang="en-GB" dirty="0">
                <a:latin typeface="Poppins" panose="020B0604020202020204" charset="0"/>
                <a:cs typeface="Poppins" panose="020B0604020202020204" charset="0"/>
              </a:rPr>
              <a:t>EDA &amp; Visualization</a:t>
            </a:r>
          </a:p>
          <a:p>
            <a:pPr marL="285750" indent="-285750"/>
            <a:endParaRPr lang="en-GB" dirty="0">
              <a:latin typeface="Poppins" panose="020B0604020202020204" charset="0"/>
              <a:cs typeface="Poppins" panose="020B0604020202020204" charset="0"/>
            </a:endParaRPr>
          </a:p>
          <a:p>
            <a:pPr marL="285750" indent="-285750"/>
            <a:r>
              <a:rPr lang="en-GB" dirty="0">
                <a:latin typeface="Poppins" panose="020B0604020202020204" charset="0"/>
                <a:cs typeface="Poppins" panose="020B0604020202020204" charset="0"/>
              </a:rPr>
              <a:t>Key Insights</a:t>
            </a:r>
          </a:p>
          <a:p>
            <a:pPr marL="285750" indent="-285750"/>
            <a:endParaRPr lang="en-GB" dirty="0">
              <a:latin typeface="Poppins" panose="020B0604020202020204" charset="0"/>
              <a:cs typeface="Poppins" panose="020B0604020202020204" charset="0"/>
            </a:endParaRPr>
          </a:p>
          <a:p>
            <a:pPr marL="285750" indent="-285750"/>
            <a:r>
              <a:rPr lang="en-GB" dirty="0">
                <a:latin typeface="Poppins" panose="020B0604020202020204" charset="0"/>
                <a:cs typeface="Poppins" panose="020B0604020202020204" charset="0"/>
              </a:rPr>
              <a:t>Recommendations</a:t>
            </a:r>
            <a:endParaRPr lang="en-IN" dirty="0">
              <a:latin typeface="Poppins" panose="020B0604020202020204" charset="0"/>
              <a:cs typeface="Poppins" panose="020B0604020202020204" charset="0"/>
            </a:endParaRPr>
          </a:p>
          <a:p>
            <a:endParaRPr lang="en-US" dirty="0"/>
          </a:p>
        </p:txBody>
      </p:sp>
    </p:spTree>
    <p:extLst>
      <p:ext uri="{BB962C8B-B14F-4D97-AF65-F5344CB8AC3E}">
        <p14:creationId xmlns:p14="http://schemas.microsoft.com/office/powerpoint/2010/main" val="1249019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728E5-465A-C7B5-6EB8-8BD1607C9FB4}"/>
              </a:ext>
            </a:extLst>
          </p:cNvPr>
          <p:cNvSpPr>
            <a:spLocks noGrp="1"/>
          </p:cNvSpPr>
          <p:nvPr>
            <p:ph type="title"/>
          </p:nvPr>
        </p:nvSpPr>
        <p:spPr>
          <a:xfrm>
            <a:off x="0" y="1"/>
            <a:ext cx="12192000" cy="1295399"/>
          </a:xfrm>
        </p:spPr>
        <p:txBody>
          <a:bodyPr>
            <a:normAutofit/>
          </a:bodyPr>
          <a:lstStyle/>
          <a:p>
            <a:r>
              <a:rPr lang="en-GB" dirty="0">
                <a:solidFill>
                  <a:schemeClr val="tx1">
                    <a:lumMod val="75000"/>
                    <a:lumOff val="25000"/>
                  </a:schemeClr>
                </a:solidFill>
                <a:latin typeface="Poppins" panose="020B0604020202020204" charset="0"/>
                <a:cs typeface="Poppins" panose="020B0604020202020204" charset="0"/>
              </a:rPr>
              <a:t>Pre-processing &amp; Feature Engineering</a:t>
            </a:r>
            <a:endParaRPr lang="en-US" dirty="0"/>
          </a:p>
        </p:txBody>
      </p:sp>
      <p:sp>
        <p:nvSpPr>
          <p:cNvPr id="3" name="Content Placeholder 2">
            <a:extLst>
              <a:ext uri="{FF2B5EF4-FFF2-40B4-BE49-F238E27FC236}">
                <a16:creationId xmlns:a16="http://schemas.microsoft.com/office/drawing/2014/main" id="{13754767-20D9-736A-C30E-26ABEFCB64F3}"/>
              </a:ext>
            </a:extLst>
          </p:cNvPr>
          <p:cNvSpPr>
            <a:spLocks noGrp="1"/>
          </p:cNvSpPr>
          <p:nvPr>
            <p:ph idx="1"/>
          </p:nvPr>
        </p:nvSpPr>
        <p:spPr>
          <a:xfrm>
            <a:off x="0" y="1948545"/>
            <a:ext cx="12192000" cy="3929741"/>
          </a:xfrm>
        </p:spPr>
        <p:txBody>
          <a:bodyPr>
            <a:normAutofit fontScale="70000" lnSpcReduction="20000"/>
          </a:bodyPr>
          <a:lstStyle/>
          <a:p>
            <a:pPr>
              <a:lnSpc>
                <a:spcPct val="150000"/>
              </a:lnSpc>
            </a:pPr>
            <a:r>
              <a:rPr lang="en-US" dirty="0"/>
              <a:t>Set headers – Make sure the state–region table has proper column names.</a:t>
            </a:r>
          </a:p>
          <a:p>
            <a:pPr lvl="0">
              <a:lnSpc>
                <a:spcPct val="150000"/>
              </a:lnSpc>
            </a:pPr>
            <a:r>
              <a:rPr lang="en-US" dirty="0"/>
              <a:t>Combine tables – Merge Sales, Customers, Products, Regions, State–Region, and Budgets into one dataset.</a:t>
            </a:r>
          </a:p>
          <a:p>
            <a:pPr lvl="0">
              <a:lnSpc>
                <a:spcPct val="150000"/>
              </a:lnSpc>
            </a:pPr>
            <a:r>
              <a:rPr lang="en-US" dirty="0"/>
              <a:t>Remove duplicates – Drop any columns that repeat the same information.</a:t>
            </a:r>
          </a:p>
          <a:p>
            <a:pPr lvl="0">
              <a:lnSpc>
                <a:spcPct val="150000"/>
              </a:lnSpc>
            </a:pPr>
            <a:r>
              <a:rPr lang="en-US" dirty="0"/>
              <a:t>Standardize names – Convert all column names to lowercase for consistency.</a:t>
            </a:r>
          </a:p>
          <a:p>
            <a:pPr lvl="0">
              <a:lnSpc>
                <a:spcPct val="150000"/>
              </a:lnSpc>
            </a:pPr>
            <a:r>
              <a:rPr lang="en-US" dirty="0"/>
              <a:t>Keep only useful data – Select the key columns needed for analysis.</a:t>
            </a:r>
          </a:p>
          <a:p>
            <a:pPr lvl="0">
              <a:lnSpc>
                <a:spcPct val="150000"/>
              </a:lnSpc>
            </a:pPr>
            <a:r>
              <a:rPr lang="en-US" dirty="0"/>
              <a:t>Rename columns – Give columns simple, meaningful names.</a:t>
            </a:r>
          </a:p>
          <a:p>
            <a:pPr lvl="0">
              <a:lnSpc>
                <a:spcPct val="150000"/>
              </a:lnSpc>
            </a:pPr>
            <a:r>
              <a:rPr lang="en-US" dirty="0"/>
              <a:t>Add new metrics – Create columns for profit and profit margin percentage.</a:t>
            </a:r>
          </a:p>
          <a:p>
            <a:endParaRPr lang="en-US" dirty="0"/>
          </a:p>
        </p:txBody>
      </p:sp>
      <p:sp>
        <p:nvSpPr>
          <p:cNvPr id="4" name="TextBox 6">
            <a:extLst>
              <a:ext uri="{FF2B5EF4-FFF2-40B4-BE49-F238E27FC236}">
                <a16:creationId xmlns:a16="http://schemas.microsoft.com/office/drawing/2014/main" id="{591D0D7A-30A2-4E0A-9555-F4FA0E347005}"/>
              </a:ext>
            </a:extLst>
          </p:cNvPr>
          <p:cNvSpPr txBox="1"/>
          <p:nvPr/>
        </p:nvSpPr>
        <p:spPr>
          <a:xfrm>
            <a:off x="125003" y="1251855"/>
            <a:ext cx="7788911" cy="4001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GB" sz="2000" dirty="0"/>
              <a:t>The necessary steps applied to prepare this dataset for analysis</a:t>
            </a:r>
            <a:r>
              <a:rPr lang="en-GB" sz="2000" b="1" dirty="0"/>
              <a:t>.</a:t>
            </a:r>
            <a:endParaRPr lang="en-IN" sz="1600" b="1" dirty="0"/>
          </a:p>
        </p:txBody>
      </p:sp>
      <p:sp>
        <p:nvSpPr>
          <p:cNvPr id="7" name="TextBox 6">
            <a:extLst>
              <a:ext uri="{FF2B5EF4-FFF2-40B4-BE49-F238E27FC236}">
                <a16:creationId xmlns:a16="http://schemas.microsoft.com/office/drawing/2014/main" id="{1DB12440-A486-F695-F0AE-618043A899AB}"/>
              </a:ext>
            </a:extLst>
          </p:cNvPr>
          <p:cNvSpPr txBox="1"/>
          <p:nvPr/>
        </p:nvSpPr>
        <p:spPr>
          <a:xfrm>
            <a:off x="1170032" y="5974810"/>
            <a:ext cx="8529139" cy="33855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GB" dirty="0"/>
              <a:t>✅ Note</a:t>
            </a:r>
            <a:r>
              <a:rPr lang="en-GB" i="1" dirty="0"/>
              <a:t>: </a:t>
            </a:r>
            <a:r>
              <a:rPr lang="en-US" sz="1600" dirty="0"/>
              <a:t>no missing values or duplicate rows were found.</a:t>
            </a:r>
            <a:endParaRPr lang="en-IN" sz="1600" b="1" dirty="0"/>
          </a:p>
        </p:txBody>
      </p:sp>
    </p:spTree>
    <p:extLst>
      <p:ext uri="{BB962C8B-B14F-4D97-AF65-F5344CB8AC3E}">
        <p14:creationId xmlns:p14="http://schemas.microsoft.com/office/powerpoint/2010/main" val="4342334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5299B-EB05-8AE6-6784-3EACC5E0321D}"/>
              </a:ext>
            </a:extLst>
          </p:cNvPr>
          <p:cNvSpPr>
            <a:spLocks noGrp="1"/>
          </p:cNvSpPr>
          <p:nvPr>
            <p:ph type="title"/>
          </p:nvPr>
        </p:nvSpPr>
        <p:spPr/>
        <p:txBody>
          <a:bodyPr/>
          <a:lstStyle/>
          <a:p>
            <a:r>
              <a:rPr lang="en-IN" b="1" dirty="0">
                <a:solidFill>
                  <a:schemeClr val="tx1">
                    <a:lumMod val="75000"/>
                    <a:lumOff val="25000"/>
                  </a:schemeClr>
                </a:solidFill>
              </a:rPr>
              <a:t>Final Dataset Structure – Ready for Analysis</a:t>
            </a:r>
            <a:endParaRPr lang="en-US" b="1" dirty="0"/>
          </a:p>
        </p:txBody>
      </p:sp>
      <p:pic>
        <p:nvPicPr>
          <p:cNvPr id="5" name="Picture 4">
            <a:extLst>
              <a:ext uri="{FF2B5EF4-FFF2-40B4-BE49-F238E27FC236}">
                <a16:creationId xmlns:a16="http://schemas.microsoft.com/office/drawing/2014/main" id="{DB329B79-B106-69F0-201F-E4DB8DC5EA19}"/>
              </a:ext>
            </a:extLst>
          </p:cNvPr>
          <p:cNvPicPr>
            <a:picLocks noChangeAspect="1"/>
          </p:cNvPicPr>
          <p:nvPr/>
        </p:nvPicPr>
        <p:blipFill>
          <a:blip r:embed="rId2"/>
          <a:stretch>
            <a:fillRect/>
          </a:stretch>
        </p:blipFill>
        <p:spPr>
          <a:xfrm>
            <a:off x="16543" y="1838830"/>
            <a:ext cx="7560909" cy="1950255"/>
          </a:xfrm>
          <a:prstGeom prst="rect">
            <a:avLst/>
          </a:prstGeom>
        </p:spPr>
      </p:pic>
      <p:pic>
        <p:nvPicPr>
          <p:cNvPr id="9" name="Picture 8">
            <a:extLst>
              <a:ext uri="{FF2B5EF4-FFF2-40B4-BE49-F238E27FC236}">
                <a16:creationId xmlns:a16="http://schemas.microsoft.com/office/drawing/2014/main" id="{AA8A159E-4DF7-F71D-6929-327345E8042C}"/>
              </a:ext>
            </a:extLst>
          </p:cNvPr>
          <p:cNvPicPr>
            <a:picLocks noChangeAspect="1"/>
          </p:cNvPicPr>
          <p:nvPr/>
        </p:nvPicPr>
        <p:blipFill>
          <a:blip r:embed="rId3"/>
          <a:stretch>
            <a:fillRect/>
          </a:stretch>
        </p:blipFill>
        <p:spPr>
          <a:xfrm>
            <a:off x="7590688" y="1828062"/>
            <a:ext cx="4825082" cy="1961023"/>
          </a:xfrm>
          <a:prstGeom prst="rect">
            <a:avLst/>
          </a:prstGeom>
        </p:spPr>
      </p:pic>
      <p:sp>
        <p:nvSpPr>
          <p:cNvPr id="11" name="TextBox 10">
            <a:extLst>
              <a:ext uri="{FF2B5EF4-FFF2-40B4-BE49-F238E27FC236}">
                <a16:creationId xmlns:a16="http://schemas.microsoft.com/office/drawing/2014/main" id="{DDFF049C-428F-9365-7234-75A2A79E9462}"/>
              </a:ext>
            </a:extLst>
          </p:cNvPr>
          <p:cNvSpPr txBox="1"/>
          <p:nvPr/>
        </p:nvSpPr>
        <p:spPr>
          <a:xfrm>
            <a:off x="960665" y="4289221"/>
            <a:ext cx="11438165" cy="2308324"/>
          </a:xfrm>
          <a:prstGeom prst="rect">
            <a:avLst/>
          </a:prstGeom>
          <a:noFill/>
        </p:spPr>
        <p:txBody>
          <a:bodyPr wrap="square">
            <a:spAutoFit/>
          </a:bodyPr>
          <a:lstStyle/>
          <a:p>
            <a:r>
              <a:rPr lang="en-GB" sz="1600" dirty="0">
                <a:effectLst/>
                <a:latin typeface="Poppins" panose="020B0604020202020204" charset="0"/>
                <a:cs typeface="Poppins" panose="020B0604020202020204" charset="0"/>
              </a:rPr>
              <a:t>Identifiers: order_number,  </a:t>
            </a:r>
            <a:r>
              <a:rPr lang="en-GB" sz="1600" dirty="0" err="1">
                <a:effectLst/>
                <a:latin typeface="Poppins" panose="020B0604020202020204" charset="0"/>
                <a:cs typeface="Poppins" panose="020B0604020202020204" charset="0"/>
              </a:rPr>
              <a:t>order_date</a:t>
            </a:r>
            <a:r>
              <a:rPr lang="en-GB" sz="1600" dirty="0">
                <a:effectLst/>
                <a:latin typeface="Poppins" panose="020B0604020202020204" charset="0"/>
                <a:cs typeface="Poppins" panose="020B0604020202020204" charset="0"/>
              </a:rPr>
              <a:t>,  </a:t>
            </a:r>
            <a:r>
              <a:rPr lang="en-GB" sz="1600" dirty="0" err="1">
                <a:effectLst/>
                <a:latin typeface="Poppins" panose="020B0604020202020204" charset="0"/>
                <a:cs typeface="Poppins" panose="020B0604020202020204" charset="0"/>
              </a:rPr>
              <a:t>customer_name</a:t>
            </a:r>
            <a:r>
              <a:rPr lang="en-GB" sz="1600" dirty="0">
                <a:effectLst/>
                <a:latin typeface="Poppins" panose="020B0604020202020204" charset="0"/>
                <a:cs typeface="Poppins" panose="020B0604020202020204" charset="0"/>
              </a:rPr>
              <a:t>,  channel,  </a:t>
            </a:r>
            <a:r>
              <a:rPr lang="en-GB" sz="1600" dirty="0" err="1">
                <a:effectLst/>
                <a:latin typeface="Poppins" panose="020B0604020202020204" charset="0"/>
                <a:cs typeface="Poppins" panose="020B0604020202020204" charset="0"/>
              </a:rPr>
              <a:t>product_name</a:t>
            </a:r>
            <a:br>
              <a:rPr lang="en-GB" sz="1600" dirty="0">
                <a:effectLst/>
                <a:latin typeface="Poppins" panose="020B0604020202020204" charset="0"/>
                <a:cs typeface="Poppins" panose="020B0604020202020204" charset="0"/>
              </a:rPr>
            </a:b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Financials: quantity,  </a:t>
            </a:r>
            <a:r>
              <a:rPr lang="en-GB" sz="1600" dirty="0" err="1">
                <a:effectLst/>
                <a:latin typeface="Poppins" panose="020B0604020202020204" charset="0"/>
                <a:cs typeface="Poppins" panose="020B0604020202020204" charset="0"/>
              </a:rPr>
              <a:t>unit_price</a:t>
            </a:r>
            <a:r>
              <a:rPr lang="en-GB" sz="1600" dirty="0">
                <a:effectLst/>
                <a:latin typeface="Poppins" panose="020B0604020202020204" charset="0"/>
                <a:cs typeface="Poppins" panose="020B0604020202020204" charset="0"/>
              </a:rPr>
              <a:t>,  revenue, cost, profit,  </a:t>
            </a:r>
            <a:r>
              <a:rPr lang="en-GB" sz="1600" dirty="0" err="1">
                <a:effectLst/>
                <a:latin typeface="Poppins" panose="020B0604020202020204" charset="0"/>
                <a:cs typeface="Poppins" panose="020B0604020202020204" charset="0"/>
              </a:rPr>
              <a:t>profit_margin_pct</a:t>
            </a:r>
            <a:endParaRPr lang="en-GB" sz="1600" dirty="0">
              <a:effectLst/>
              <a:latin typeface="Poppins" panose="020B0604020202020204" charset="0"/>
              <a:cs typeface="Poppins" panose="020B0604020202020204" charset="0"/>
            </a:endParaRPr>
          </a:p>
          <a:p>
            <a:endParaRPr lang="en-GB" sz="1600" dirty="0">
              <a:effectLst/>
              <a:latin typeface="Poppins" panose="020B0604020202020204" charset="0"/>
              <a:cs typeface="Poppins" panose="020B0604020202020204" charset="0"/>
            </a:endParaRPr>
          </a:p>
          <a:p>
            <a:r>
              <a:rPr lang="en-GB" sz="1600" dirty="0">
                <a:latin typeface="Poppins" panose="020B0604020202020204" charset="0"/>
                <a:cs typeface="Poppins" panose="020B0604020202020204" charset="0"/>
              </a:rPr>
              <a:t>Calendar:  </a:t>
            </a:r>
            <a:r>
              <a:rPr lang="en-GB" sz="1600" dirty="0" err="1">
                <a:latin typeface="Poppins" panose="020B0604020202020204" charset="0"/>
                <a:cs typeface="Poppins" panose="020B0604020202020204" charset="0"/>
              </a:rPr>
              <a:t>order_month_name</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order_month_num</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order_month</a:t>
            </a:r>
            <a:endParaRPr lang="en-IN" sz="1600" dirty="0">
              <a:latin typeface="Poppins" panose="020B0604020202020204" charset="0"/>
              <a:cs typeface="Poppins" panose="020B0604020202020204" charset="0"/>
            </a:endParaRPr>
          </a:p>
          <a:p>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Geography: state (code), </a:t>
            </a:r>
            <a:r>
              <a:rPr lang="en-GB" sz="1600" dirty="0" err="1">
                <a:effectLst/>
                <a:latin typeface="Poppins" panose="020B0604020202020204" charset="0"/>
                <a:cs typeface="Poppins" panose="020B0604020202020204" charset="0"/>
              </a:rPr>
              <a:t>state_name</a:t>
            </a:r>
            <a:r>
              <a:rPr lang="en-GB" sz="1600" dirty="0">
                <a:effectLst/>
                <a:latin typeface="Poppins" panose="020B0604020202020204" charset="0"/>
                <a:cs typeface="Poppins" panose="020B0604020202020204" charset="0"/>
              </a:rPr>
              <a:t>, </a:t>
            </a:r>
            <a:r>
              <a:rPr lang="en-GB" sz="1600" dirty="0" err="1">
                <a:effectLst/>
                <a:latin typeface="Poppins" panose="020B0604020202020204" charset="0"/>
                <a:cs typeface="Poppins" panose="020B0604020202020204" charset="0"/>
              </a:rPr>
              <a:t>us_region</a:t>
            </a:r>
            <a:r>
              <a:rPr lang="en-GB" sz="1600" dirty="0">
                <a:effectLst/>
                <a:latin typeface="Poppins" panose="020B0604020202020204" charset="0"/>
                <a:cs typeface="Poppins" panose="020B0604020202020204" charset="0"/>
              </a:rPr>
              <a:t>, </a:t>
            </a:r>
            <a:r>
              <a:rPr lang="en-GB" sz="1600" dirty="0" err="1">
                <a:effectLst/>
                <a:latin typeface="Poppins" panose="020B0604020202020204" charset="0"/>
                <a:cs typeface="Poppins" panose="020B0604020202020204" charset="0"/>
              </a:rPr>
              <a:t>lat</a:t>
            </a:r>
            <a:r>
              <a:rPr lang="en-GB" sz="1600" dirty="0">
                <a:effectLst/>
                <a:latin typeface="Poppins" panose="020B0604020202020204" charset="0"/>
                <a:cs typeface="Poppins" panose="020B0604020202020204" charset="0"/>
              </a:rPr>
              <a:t>, </a:t>
            </a:r>
            <a:r>
              <a:rPr lang="en-GB" sz="1600" dirty="0" err="1">
                <a:effectLst/>
                <a:latin typeface="Poppins" panose="020B0604020202020204" charset="0"/>
                <a:cs typeface="Poppins" panose="020B0604020202020204" charset="0"/>
              </a:rPr>
              <a:t>lon</a:t>
            </a:r>
            <a:br>
              <a:rPr lang="en-GB" sz="1600" dirty="0">
                <a:effectLst/>
                <a:latin typeface="Poppins" panose="020B0604020202020204" charset="0"/>
                <a:cs typeface="Poppins" panose="020B0604020202020204" charset="0"/>
              </a:rPr>
            </a:b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Planning: budget (2017)</a:t>
            </a:r>
          </a:p>
        </p:txBody>
      </p:sp>
    </p:spTree>
    <p:extLst>
      <p:ext uri="{BB962C8B-B14F-4D97-AF65-F5344CB8AC3E}">
        <p14:creationId xmlns:p14="http://schemas.microsoft.com/office/powerpoint/2010/main" val="28168013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DB86A-A8EA-4547-F7A2-8ABF81208859}"/>
              </a:ext>
            </a:extLst>
          </p:cNvPr>
          <p:cNvSpPr>
            <a:spLocks noGrp="1"/>
          </p:cNvSpPr>
          <p:nvPr>
            <p:ph type="title"/>
          </p:nvPr>
        </p:nvSpPr>
        <p:spPr>
          <a:xfrm>
            <a:off x="0" y="21772"/>
            <a:ext cx="12192000" cy="1077685"/>
          </a:xfrm>
          <a:solidFill>
            <a:schemeClr val="accent6">
              <a:lumMod val="20000"/>
              <a:lumOff val="80000"/>
            </a:schemeClr>
          </a:solidFill>
        </p:spPr>
        <p:txBody>
          <a:bodyPr/>
          <a:lstStyle/>
          <a:p>
            <a:r>
              <a:rPr lang="en-US" b="1" dirty="0"/>
              <a:t>Charts &amp; Insights</a:t>
            </a:r>
            <a:r>
              <a:rPr lang="en-US" dirty="0"/>
              <a:t> </a:t>
            </a:r>
          </a:p>
        </p:txBody>
      </p:sp>
      <p:sp>
        <p:nvSpPr>
          <p:cNvPr id="6" name="Google Shape;257;g21197e7cf6e_0_97">
            <a:extLst>
              <a:ext uri="{FF2B5EF4-FFF2-40B4-BE49-F238E27FC236}">
                <a16:creationId xmlns:a16="http://schemas.microsoft.com/office/drawing/2014/main" id="{8493BBE6-DC32-28A7-52AC-880B6971435A}"/>
              </a:ext>
            </a:extLst>
          </p:cNvPr>
          <p:cNvSpPr txBox="1">
            <a:spLocks noGrp="1"/>
          </p:cNvSpPr>
          <p:nvPr/>
        </p:nvSpPr>
        <p:spPr>
          <a:xfrm>
            <a:off x="43544" y="1644929"/>
            <a:ext cx="6727370" cy="369332"/>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Clr>
                <a:schemeClr val="dk1"/>
              </a:buClr>
              <a:buSzPts val="1800"/>
              <a:buNone/>
            </a:pPr>
            <a:r>
              <a:rPr lang="en-GB" sz="2400" dirty="0">
                <a:solidFill>
                  <a:schemeClr val="tx1">
                    <a:lumMod val="75000"/>
                    <a:lumOff val="25000"/>
                  </a:schemeClr>
                </a:solidFill>
                <a:effectLst/>
                <a:latin typeface="+mj-lt"/>
              </a:rPr>
              <a:t>Monthly Sales Trend Over Time</a:t>
            </a:r>
            <a:endParaRPr sz="2400" dirty="0">
              <a:solidFill>
                <a:schemeClr val="tx1">
                  <a:lumMod val="75000"/>
                  <a:lumOff val="25000"/>
                </a:schemeClr>
              </a:solidFill>
              <a:latin typeface="+mj-lt"/>
            </a:endParaRPr>
          </a:p>
        </p:txBody>
      </p:sp>
      <p:pic>
        <p:nvPicPr>
          <p:cNvPr id="9" name="Picture 8">
            <a:extLst>
              <a:ext uri="{FF2B5EF4-FFF2-40B4-BE49-F238E27FC236}">
                <a16:creationId xmlns:a16="http://schemas.microsoft.com/office/drawing/2014/main" id="{ABCB53C1-52F8-6A51-344C-035155D62798}"/>
              </a:ext>
            </a:extLst>
          </p:cNvPr>
          <p:cNvPicPr>
            <a:picLocks noChangeAspect="1"/>
          </p:cNvPicPr>
          <p:nvPr/>
        </p:nvPicPr>
        <p:blipFill>
          <a:blip r:embed="rId3"/>
          <a:stretch>
            <a:fillRect/>
          </a:stretch>
        </p:blipFill>
        <p:spPr>
          <a:xfrm>
            <a:off x="596762" y="692531"/>
            <a:ext cx="10606586" cy="5255945"/>
          </a:xfrm>
          <a:prstGeom prst="rect">
            <a:avLst/>
          </a:prstGeom>
        </p:spPr>
      </p:pic>
    </p:spTree>
    <p:extLst>
      <p:ext uri="{BB962C8B-B14F-4D97-AF65-F5344CB8AC3E}">
        <p14:creationId xmlns:p14="http://schemas.microsoft.com/office/powerpoint/2010/main" val="2630468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E11C5407-49B7-176C-9433-537AE182032C}"/>
              </a:ext>
            </a:extLst>
          </p:cNvPr>
          <p:cNvGrpSpPr/>
          <p:nvPr/>
        </p:nvGrpSpPr>
        <p:grpSpPr>
          <a:xfrm>
            <a:off x="515299" y="772884"/>
            <a:ext cx="2510929" cy="533541"/>
            <a:chOff x="4990288" y="1782720"/>
            <a:chExt cx="1799684" cy="561047"/>
          </a:xfrm>
        </p:grpSpPr>
        <p:pic>
          <p:nvPicPr>
            <p:cNvPr id="7" name="Picture 6">
              <a:extLst>
                <a:ext uri="{FF2B5EF4-FFF2-40B4-BE49-F238E27FC236}">
                  <a16:creationId xmlns:a16="http://schemas.microsoft.com/office/drawing/2014/main" id="{5993B0FD-7ACC-ACEB-6BE3-A44CF2902BF1}"/>
                </a:ext>
              </a:extLst>
            </p:cNvPr>
            <p:cNvPicPr>
              <a:picLocks noChangeAspect="1"/>
            </p:cNvPicPr>
            <p:nvPr/>
          </p:nvPicPr>
          <p:blipFill>
            <a:blip r:embed="rId2"/>
            <a:stretch>
              <a:fillRect/>
            </a:stretch>
          </p:blipFill>
          <p:spPr>
            <a:xfrm>
              <a:off x="4990288" y="1782720"/>
              <a:ext cx="520496" cy="520496"/>
            </a:xfrm>
            <a:prstGeom prst="rect">
              <a:avLst/>
            </a:prstGeom>
          </p:spPr>
        </p:pic>
        <p:sp>
          <p:nvSpPr>
            <p:cNvPr id="8" name="TextBox 15">
              <a:extLst>
                <a:ext uri="{FF2B5EF4-FFF2-40B4-BE49-F238E27FC236}">
                  <a16:creationId xmlns:a16="http://schemas.microsoft.com/office/drawing/2014/main" id="{21F50074-2D5A-4B40-4BA2-A91F016EF5BE}"/>
                </a:ext>
              </a:extLst>
            </p:cNvPr>
            <p:cNvSpPr txBox="1"/>
            <p:nvPr/>
          </p:nvSpPr>
          <p:spPr>
            <a:xfrm flipH="1">
              <a:off x="5510784" y="1858301"/>
              <a:ext cx="1279188" cy="485466"/>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2400" b="1" dirty="0">
                  <a:solidFill>
                    <a:schemeClr val="tx1">
                      <a:lumMod val="50000"/>
                      <a:lumOff val="50000"/>
                    </a:schemeClr>
                  </a:solidFill>
                </a:rPr>
                <a:t>Insights</a:t>
              </a:r>
            </a:p>
          </p:txBody>
        </p:sp>
      </p:grpSp>
      <p:sp>
        <p:nvSpPr>
          <p:cNvPr id="14" name="TextBox 13">
            <a:extLst>
              <a:ext uri="{FF2B5EF4-FFF2-40B4-BE49-F238E27FC236}">
                <a16:creationId xmlns:a16="http://schemas.microsoft.com/office/drawing/2014/main" id="{37D46641-BEBC-946D-8ECB-6ACEC3CC5519}"/>
              </a:ext>
            </a:extLst>
          </p:cNvPr>
          <p:cNvSpPr txBox="1"/>
          <p:nvPr/>
        </p:nvSpPr>
        <p:spPr>
          <a:xfrm>
            <a:off x="1199089" y="1679991"/>
            <a:ext cx="10626654" cy="2662606"/>
          </a:xfrm>
          <a:prstGeom prst="rect">
            <a:avLst/>
          </a:prstGeom>
          <a:noFill/>
        </p:spPr>
        <p:txBody>
          <a:bodyPr wrap="square">
            <a:spAutoFit/>
          </a:bodyPr>
          <a:lstStyle/>
          <a:p>
            <a:pPr marL="342900" lvl="0" indent="-342900">
              <a:spcAft>
                <a:spcPts val="800"/>
              </a:spcAft>
              <a:buFont typeface="Symbol" panose="05050102010706020507" pitchFamily="18" charset="2"/>
              <a:buChar char=""/>
            </a:pP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Stable sales range: Revenue usually stays between $24M and $26M.</a:t>
            </a:r>
          </a:p>
          <a:p>
            <a:pPr marL="342900" lvl="0" indent="-342900">
              <a:spcAft>
                <a:spcPts val="800"/>
              </a:spcAft>
              <a:buFont typeface="Symbol" panose="05050102010706020507" pitchFamily="18" charset="2"/>
              <a:buChar char=""/>
            </a:pP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Seasonal highs: Sales peak in late spring and early summer (May–June).</a:t>
            </a:r>
          </a:p>
          <a:p>
            <a:pPr marL="342900" lvl="0" indent="-342900">
              <a:spcAft>
                <a:spcPts val="800"/>
              </a:spcAft>
              <a:buFont typeface="Symbol" panose="05050102010706020507" pitchFamily="18" charset="2"/>
              <a:buChar char=""/>
            </a:pP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Annual low point: January is the weakest month for sales.</a:t>
            </a:r>
          </a:p>
          <a:p>
            <a:pPr marL="342900" lvl="0" indent="-342900">
              <a:spcAft>
                <a:spcPts val="800"/>
              </a:spcAft>
              <a:buFont typeface="Symbol" panose="05050102010706020507" pitchFamily="18" charset="2"/>
              <a:buChar char=""/>
            </a:pP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Unusual event: There was a sharp drop in revenue in early 2017.</a:t>
            </a:r>
          </a:p>
          <a:p>
            <a:pPr>
              <a:spcAft>
                <a:spcPts val="800"/>
              </a:spcAft>
              <a:buNone/>
            </a:pP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13389887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DEADE-7C68-E5DD-2A5E-1E56ED647F5A}"/>
              </a:ext>
            </a:extLst>
          </p:cNvPr>
          <p:cNvSpPr>
            <a:spLocks noGrp="1"/>
          </p:cNvSpPr>
          <p:nvPr>
            <p:ph type="title"/>
          </p:nvPr>
        </p:nvSpPr>
        <p:spPr>
          <a:xfrm>
            <a:off x="-68584" y="16780"/>
            <a:ext cx="11567160" cy="1147989"/>
          </a:xfrm>
        </p:spPr>
        <p:txBody>
          <a:bodyPr/>
          <a:lstStyle/>
          <a:p>
            <a:r>
              <a:rPr lang="en-GB" b="1" dirty="0">
                <a:solidFill>
                  <a:schemeClr val="tx1">
                    <a:lumMod val="75000"/>
                    <a:lumOff val="25000"/>
                  </a:schemeClr>
                </a:solidFill>
              </a:rPr>
              <a:t>Top 10 Products by Revenue</a:t>
            </a:r>
            <a:endParaRPr lang="en-US" b="1" dirty="0"/>
          </a:p>
        </p:txBody>
      </p:sp>
      <p:pic>
        <p:nvPicPr>
          <p:cNvPr id="5" name="Picture 4">
            <a:extLst>
              <a:ext uri="{FF2B5EF4-FFF2-40B4-BE49-F238E27FC236}">
                <a16:creationId xmlns:a16="http://schemas.microsoft.com/office/drawing/2014/main" id="{6580D148-E5D4-B06D-5324-9D3A7F7F9CF2}"/>
              </a:ext>
            </a:extLst>
          </p:cNvPr>
          <p:cNvPicPr>
            <a:picLocks noChangeAspect="1"/>
          </p:cNvPicPr>
          <p:nvPr/>
        </p:nvPicPr>
        <p:blipFill>
          <a:blip r:embed="rId2"/>
          <a:stretch>
            <a:fillRect/>
          </a:stretch>
        </p:blipFill>
        <p:spPr>
          <a:xfrm>
            <a:off x="422010" y="1380125"/>
            <a:ext cx="11171276" cy="3409589"/>
          </a:xfrm>
          <a:prstGeom prst="rect">
            <a:avLst/>
          </a:prstGeom>
        </p:spPr>
      </p:pic>
      <p:grpSp>
        <p:nvGrpSpPr>
          <p:cNvPr id="6" name="Group 5">
            <a:extLst>
              <a:ext uri="{FF2B5EF4-FFF2-40B4-BE49-F238E27FC236}">
                <a16:creationId xmlns:a16="http://schemas.microsoft.com/office/drawing/2014/main" id="{6C4A5420-8C8C-4F8F-B704-5EE5DDE8C14D}"/>
              </a:ext>
            </a:extLst>
          </p:cNvPr>
          <p:cNvGrpSpPr/>
          <p:nvPr/>
        </p:nvGrpSpPr>
        <p:grpSpPr>
          <a:xfrm>
            <a:off x="422010" y="5005070"/>
            <a:ext cx="1896647" cy="361587"/>
            <a:chOff x="4990288" y="1782720"/>
            <a:chExt cx="1799684" cy="520496"/>
          </a:xfrm>
        </p:grpSpPr>
        <p:pic>
          <p:nvPicPr>
            <p:cNvPr id="7" name="Picture 6">
              <a:extLst>
                <a:ext uri="{FF2B5EF4-FFF2-40B4-BE49-F238E27FC236}">
                  <a16:creationId xmlns:a16="http://schemas.microsoft.com/office/drawing/2014/main" id="{952E8B6A-003E-4213-8DB4-5E70B6781E7D}"/>
                </a:ext>
              </a:extLst>
            </p:cNvPr>
            <p:cNvPicPr>
              <a:picLocks noChangeAspect="1"/>
            </p:cNvPicPr>
            <p:nvPr/>
          </p:nvPicPr>
          <p:blipFill>
            <a:blip r:embed="rId3"/>
            <a:stretch>
              <a:fillRect/>
            </a:stretch>
          </p:blipFill>
          <p:spPr>
            <a:xfrm>
              <a:off x="4990288" y="1782720"/>
              <a:ext cx="520496" cy="520496"/>
            </a:xfrm>
            <a:prstGeom prst="rect">
              <a:avLst/>
            </a:prstGeom>
          </p:spPr>
        </p:pic>
        <p:sp>
          <p:nvSpPr>
            <p:cNvPr id="8" name="TextBox 11">
              <a:extLst>
                <a:ext uri="{FF2B5EF4-FFF2-40B4-BE49-F238E27FC236}">
                  <a16:creationId xmlns:a16="http://schemas.microsoft.com/office/drawing/2014/main" id="{E85487F4-40E9-4739-9FE1-7936AE5A2DA8}"/>
                </a:ext>
              </a:extLst>
            </p:cNvPr>
            <p:cNvSpPr txBox="1"/>
            <p:nvPr/>
          </p:nvSpPr>
          <p:spPr>
            <a:xfrm flipH="1">
              <a:off x="5510784" y="1858302"/>
              <a:ext cx="1279188" cy="369332"/>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800" b="1" dirty="0">
                  <a:solidFill>
                    <a:schemeClr val="tx1">
                      <a:lumMod val="50000"/>
                      <a:lumOff val="50000"/>
                    </a:schemeClr>
                  </a:solidFill>
                </a:rPr>
                <a:t>Insights</a:t>
              </a:r>
            </a:p>
          </p:txBody>
        </p:sp>
      </p:grpSp>
      <p:sp>
        <p:nvSpPr>
          <p:cNvPr id="12" name="Google Shape;249;g21197e7cf6e_0_97">
            <a:extLst>
              <a:ext uri="{FF2B5EF4-FFF2-40B4-BE49-F238E27FC236}">
                <a16:creationId xmlns:a16="http://schemas.microsoft.com/office/drawing/2014/main" id="{06EAFE60-4039-D129-87DE-615974A676F4}"/>
              </a:ext>
            </a:extLst>
          </p:cNvPr>
          <p:cNvSpPr/>
          <p:nvPr/>
        </p:nvSpPr>
        <p:spPr>
          <a:xfrm>
            <a:off x="1543696" y="5399290"/>
            <a:ext cx="9363789" cy="1441930"/>
          </a:xfrm>
          <a:prstGeom prst="rect">
            <a:avLst/>
          </a:prstGeom>
          <a:solidFill>
            <a:schemeClr val="lt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endParaRPr lang="en-US" dirty="0"/>
          </a:p>
          <a:p>
            <a:pPr marL="285750" lvl="0" indent="-285750">
              <a:buFont typeface="Arial" panose="020B0604020202020204" pitchFamily="34" charset="0"/>
              <a:buChar char="•"/>
            </a:pPr>
            <a:r>
              <a:rPr lang="en-US" sz="1600" dirty="0"/>
              <a:t>Top performers: Products 26 and 25 lead in revenue.</a:t>
            </a:r>
          </a:p>
          <a:p>
            <a:pPr marL="285750" lvl="0" indent="-285750">
              <a:buFont typeface="Arial" panose="020B0604020202020204" pitchFamily="34" charset="0"/>
              <a:buChar char="•"/>
            </a:pPr>
            <a:r>
              <a:rPr lang="en-US" sz="1600" dirty="0"/>
              <a:t>Middle group: Products 5, 13, 14, and 15 earn similar mid-range revenue.</a:t>
            </a:r>
          </a:p>
          <a:p>
            <a:pPr marL="285750" lvl="0" indent="-285750">
              <a:buFont typeface="Arial" panose="020B0604020202020204" pitchFamily="34" charset="0"/>
              <a:buChar char="•"/>
            </a:pPr>
            <a:r>
              <a:rPr lang="en-US" sz="1600" dirty="0"/>
              <a:t>Lower group: Products 1, 2, 3, and 4 generate the least revenue.</a:t>
            </a:r>
          </a:p>
          <a:p>
            <a:pPr marL="285750" lvl="0" indent="-285750">
              <a:buFont typeface="Arial" panose="020B0604020202020204" pitchFamily="34" charset="0"/>
              <a:buChar char="•"/>
            </a:pPr>
            <a:r>
              <a:rPr lang="en-US" sz="1600" dirty="0"/>
              <a:t>Plan: Focus on growing the mid-tier and improving weaker products.</a:t>
            </a:r>
          </a:p>
          <a:p>
            <a:r>
              <a:rPr lang="en-US" dirty="0"/>
              <a:t> </a:t>
            </a:r>
          </a:p>
          <a:p>
            <a:pPr marR="0" lvl="0" rtl="0">
              <a:lnSpc>
                <a:spcPct val="100000"/>
              </a:lnSpc>
              <a:spcBef>
                <a:spcPts val="0"/>
              </a:spcBef>
              <a:spcAft>
                <a:spcPts val="0"/>
              </a:spcAft>
              <a:buClr>
                <a:srgbClr val="000000"/>
              </a:buClr>
              <a:buSzPts val="1800"/>
            </a:pPr>
            <a:endParaRPr lang="en-GB" sz="1600" dirty="0">
              <a:effectLst/>
              <a:latin typeface="Poppins" panose="020B0604020202020204" charset="0"/>
              <a:cs typeface="Poppins" panose="020B0604020202020204" charset="0"/>
            </a:endParaRPr>
          </a:p>
        </p:txBody>
      </p:sp>
    </p:spTree>
    <p:extLst>
      <p:ext uri="{BB962C8B-B14F-4D97-AF65-F5344CB8AC3E}">
        <p14:creationId xmlns:p14="http://schemas.microsoft.com/office/powerpoint/2010/main" val="36472387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257;g21197e7cf6e_0_97">
            <a:extLst>
              <a:ext uri="{FF2B5EF4-FFF2-40B4-BE49-F238E27FC236}">
                <a16:creationId xmlns:a16="http://schemas.microsoft.com/office/drawing/2014/main" id="{533FE142-A9BF-4047-853C-12E359056733}"/>
              </a:ext>
            </a:extLst>
          </p:cNvPr>
          <p:cNvSpPr txBox="1">
            <a:spLocks/>
          </p:cNvSpPr>
          <p:nvPr/>
        </p:nvSpPr>
        <p:spPr>
          <a:xfrm>
            <a:off x="241836" y="298064"/>
            <a:ext cx="9413793"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dirty="0">
                <a:solidFill>
                  <a:schemeClr val="tx1">
                    <a:lumMod val="75000"/>
                    <a:lumOff val="25000"/>
                  </a:schemeClr>
                </a:solidFill>
              </a:rPr>
              <a:t>Top 10 Products by Average Profit Margin</a:t>
            </a:r>
          </a:p>
        </p:txBody>
      </p:sp>
      <p:pic>
        <p:nvPicPr>
          <p:cNvPr id="7" name="Picture 6">
            <a:extLst>
              <a:ext uri="{FF2B5EF4-FFF2-40B4-BE49-F238E27FC236}">
                <a16:creationId xmlns:a16="http://schemas.microsoft.com/office/drawing/2014/main" id="{99F9C4D6-7705-032C-F0A2-EB578E3EE419}"/>
              </a:ext>
            </a:extLst>
          </p:cNvPr>
          <p:cNvPicPr>
            <a:picLocks noChangeAspect="1"/>
          </p:cNvPicPr>
          <p:nvPr/>
        </p:nvPicPr>
        <p:blipFill>
          <a:blip r:embed="rId2"/>
          <a:stretch>
            <a:fillRect/>
          </a:stretch>
        </p:blipFill>
        <p:spPr>
          <a:xfrm>
            <a:off x="241836" y="1420043"/>
            <a:ext cx="7614041" cy="3473629"/>
          </a:xfrm>
          <a:prstGeom prst="rect">
            <a:avLst/>
          </a:prstGeom>
        </p:spPr>
      </p:pic>
      <p:grpSp>
        <p:nvGrpSpPr>
          <p:cNvPr id="8" name="Group 7">
            <a:extLst>
              <a:ext uri="{FF2B5EF4-FFF2-40B4-BE49-F238E27FC236}">
                <a16:creationId xmlns:a16="http://schemas.microsoft.com/office/drawing/2014/main" id="{B20E552C-11EE-4342-A082-27C9FCCA2AAB}"/>
              </a:ext>
            </a:extLst>
          </p:cNvPr>
          <p:cNvGrpSpPr/>
          <p:nvPr/>
        </p:nvGrpSpPr>
        <p:grpSpPr>
          <a:xfrm>
            <a:off x="241835" y="4974771"/>
            <a:ext cx="2163907" cy="381000"/>
            <a:chOff x="4990288" y="1782720"/>
            <a:chExt cx="1799684" cy="520496"/>
          </a:xfrm>
        </p:grpSpPr>
        <p:pic>
          <p:nvPicPr>
            <p:cNvPr id="9" name="Picture 8">
              <a:extLst>
                <a:ext uri="{FF2B5EF4-FFF2-40B4-BE49-F238E27FC236}">
                  <a16:creationId xmlns:a16="http://schemas.microsoft.com/office/drawing/2014/main" id="{B0BD83AB-F894-4738-A6D1-2BC07DD393BF}"/>
                </a:ext>
              </a:extLst>
            </p:cNvPr>
            <p:cNvPicPr>
              <a:picLocks noChangeAspect="1"/>
            </p:cNvPicPr>
            <p:nvPr/>
          </p:nvPicPr>
          <p:blipFill>
            <a:blip r:embed="rId3"/>
            <a:stretch>
              <a:fillRect/>
            </a:stretch>
          </p:blipFill>
          <p:spPr>
            <a:xfrm>
              <a:off x="4990288" y="1782720"/>
              <a:ext cx="520496" cy="520496"/>
            </a:xfrm>
            <a:prstGeom prst="rect">
              <a:avLst/>
            </a:prstGeom>
          </p:spPr>
        </p:pic>
        <p:sp>
          <p:nvSpPr>
            <p:cNvPr id="10" name="TextBox 12">
              <a:extLst>
                <a:ext uri="{FF2B5EF4-FFF2-40B4-BE49-F238E27FC236}">
                  <a16:creationId xmlns:a16="http://schemas.microsoft.com/office/drawing/2014/main" id="{E4E577FF-B6E4-4310-85D7-17A077CCBC83}"/>
                </a:ext>
              </a:extLst>
            </p:cNvPr>
            <p:cNvSpPr txBox="1"/>
            <p:nvPr/>
          </p:nvSpPr>
          <p:spPr>
            <a:xfrm flipH="1">
              <a:off x="5510784" y="1858302"/>
              <a:ext cx="1279188" cy="369332"/>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800" b="1" dirty="0">
                  <a:solidFill>
                    <a:schemeClr val="tx1">
                      <a:lumMod val="50000"/>
                      <a:lumOff val="50000"/>
                    </a:schemeClr>
                  </a:solidFill>
                </a:rPr>
                <a:t>Insights</a:t>
              </a:r>
            </a:p>
          </p:txBody>
        </p:sp>
      </p:grpSp>
      <p:sp>
        <p:nvSpPr>
          <p:cNvPr id="12" name="TextBox 11">
            <a:extLst>
              <a:ext uri="{FF2B5EF4-FFF2-40B4-BE49-F238E27FC236}">
                <a16:creationId xmlns:a16="http://schemas.microsoft.com/office/drawing/2014/main" id="{88045951-9D11-5285-1970-D52FDEAF6A28}"/>
              </a:ext>
            </a:extLst>
          </p:cNvPr>
          <p:cNvSpPr txBox="1"/>
          <p:nvPr/>
        </p:nvSpPr>
        <p:spPr>
          <a:xfrm>
            <a:off x="1765320" y="5354876"/>
            <a:ext cx="7781452" cy="1200329"/>
          </a:xfrm>
          <a:prstGeom prst="rect">
            <a:avLst/>
          </a:prstGeom>
          <a:noFill/>
        </p:spPr>
        <p:txBody>
          <a:bodyPr wrap="square">
            <a:spAutoFit/>
          </a:bodyPr>
          <a:lstStyle/>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800" dirty="0">
                <a:effectLst/>
                <a:latin typeface="Poppins" panose="020B0604020202020204" charset="0"/>
                <a:cs typeface="Poppins" panose="020B0604020202020204" charset="0"/>
              </a:rPr>
              <a:t>Top: Products 18 &amp; 28 lead at ~$8.1–8.4K.</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800" dirty="0">
                <a:effectLst/>
                <a:latin typeface="Poppins" panose="020B0604020202020204" charset="0"/>
                <a:cs typeface="Poppins" panose="020B0604020202020204" charset="0"/>
              </a:rPr>
              <a:t>Next tier: Products 5, 11, 12 &amp; 26 at ~$7.5–7.8K.</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800" dirty="0">
                <a:effectLst/>
                <a:latin typeface="Poppins" panose="020B0604020202020204" charset="0"/>
                <a:cs typeface="Poppins" panose="020B0604020202020204" charset="0"/>
              </a:rPr>
              <a:t>Entry‑level: Products 1, 4, 16 &amp; 21 around $7.3K.</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800" dirty="0">
                <a:effectLst/>
                <a:latin typeface="Poppins" panose="020B0604020202020204" charset="0"/>
                <a:cs typeface="Poppins" panose="020B0604020202020204" charset="0"/>
              </a:rPr>
              <a:t>Takeaway: Top 10 all exceed $7.3K—consistent high margins.</a:t>
            </a:r>
          </a:p>
        </p:txBody>
      </p:sp>
    </p:spTree>
    <p:extLst>
      <p:ext uri="{BB962C8B-B14F-4D97-AF65-F5344CB8AC3E}">
        <p14:creationId xmlns:p14="http://schemas.microsoft.com/office/powerpoint/2010/main" val="10568975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57;g21197e7cf6e_0_97">
            <a:extLst>
              <a:ext uri="{FF2B5EF4-FFF2-40B4-BE49-F238E27FC236}">
                <a16:creationId xmlns:a16="http://schemas.microsoft.com/office/drawing/2014/main" id="{D5F37530-F693-4DEA-9195-52EBC3A2DFE9}"/>
              </a:ext>
            </a:extLst>
          </p:cNvPr>
          <p:cNvSpPr txBox="1">
            <a:spLocks/>
          </p:cNvSpPr>
          <p:nvPr/>
        </p:nvSpPr>
        <p:spPr>
          <a:xfrm>
            <a:off x="343534" y="341608"/>
            <a:ext cx="6764837"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dirty="0">
                <a:solidFill>
                  <a:schemeClr val="tx1">
                    <a:lumMod val="75000"/>
                    <a:lumOff val="25000"/>
                  </a:schemeClr>
                </a:solidFill>
              </a:rPr>
              <a:t>Sales by Channel</a:t>
            </a:r>
          </a:p>
        </p:txBody>
      </p:sp>
      <p:pic>
        <p:nvPicPr>
          <p:cNvPr id="6" name="Picture 5">
            <a:extLst>
              <a:ext uri="{FF2B5EF4-FFF2-40B4-BE49-F238E27FC236}">
                <a16:creationId xmlns:a16="http://schemas.microsoft.com/office/drawing/2014/main" id="{64D7D0E6-CEA3-CE2C-5A17-71AAED983D1C}"/>
              </a:ext>
            </a:extLst>
          </p:cNvPr>
          <p:cNvPicPr>
            <a:picLocks noChangeAspect="1"/>
          </p:cNvPicPr>
          <p:nvPr/>
        </p:nvPicPr>
        <p:blipFill>
          <a:blip r:embed="rId2"/>
          <a:stretch>
            <a:fillRect/>
          </a:stretch>
        </p:blipFill>
        <p:spPr>
          <a:xfrm>
            <a:off x="487946" y="1175656"/>
            <a:ext cx="4704541" cy="4332514"/>
          </a:xfrm>
          <a:prstGeom prst="rect">
            <a:avLst/>
          </a:prstGeom>
        </p:spPr>
      </p:pic>
      <p:grpSp>
        <p:nvGrpSpPr>
          <p:cNvPr id="7" name="Group 6">
            <a:extLst>
              <a:ext uri="{FF2B5EF4-FFF2-40B4-BE49-F238E27FC236}">
                <a16:creationId xmlns:a16="http://schemas.microsoft.com/office/drawing/2014/main" id="{75A32C24-E9EC-4693-9074-693E478F1E3A}"/>
              </a:ext>
            </a:extLst>
          </p:cNvPr>
          <p:cNvGrpSpPr/>
          <p:nvPr/>
        </p:nvGrpSpPr>
        <p:grpSpPr>
          <a:xfrm>
            <a:off x="5109072" y="1014000"/>
            <a:ext cx="1886770" cy="520496"/>
            <a:chOff x="4903202" y="-372032"/>
            <a:chExt cx="1886770" cy="520496"/>
          </a:xfrm>
        </p:grpSpPr>
        <p:pic>
          <p:nvPicPr>
            <p:cNvPr id="8" name="Picture 7">
              <a:extLst>
                <a:ext uri="{FF2B5EF4-FFF2-40B4-BE49-F238E27FC236}">
                  <a16:creationId xmlns:a16="http://schemas.microsoft.com/office/drawing/2014/main" id="{9ABDAD06-6C59-43E4-AAB3-6AC01203165E}"/>
                </a:ext>
              </a:extLst>
            </p:cNvPr>
            <p:cNvPicPr>
              <a:picLocks noChangeAspect="1"/>
            </p:cNvPicPr>
            <p:nvPr/>
          </p:nvPicPr>
          <p:blipFill>
            <a:blip r:embed="rId3"/>
            <a:stretch>
              <a:fillRect/>
            </a:stretch>
          </p:blipFill>
          <p:spPr>
            <a:xfrm>
              <a:off x="4903202" y="-372032"/>
              <a:ext cx="520496" cy="520496"/>
            </a:xfrm>
            <a:prstGeom prst="rect">
              <a:avLst/>
            </a:prstGeom>
          </p:spPr>
        </p:pic>
        <p:sp>
          <p:nvSpPr>
            <p:cNvPr id="9" name="TextBox 6">
              <a:extLst>
                <a:ext uri="{FF2B5EF4-FFF2-40B4-BE49-F238E27FC236}">
                  <a16:creationId xmlns:a16="http://schemas.microsoft.com/office/drawing/2014/main" id="{B1B59B4E-EA7A-4C3D-9847-3CC57FA9A9E1}"/>
                </a:ext>
              </a:extLst>
            </p:cNvPr>
            <p:cNvSpPr txBox="1"/>
            <p:nvPr/>
          </p:nvSpPr>
          <p:spPr>
            <a:xfrm flipH="1">
              <a:off x="5510784" y="-220868"/>
              <a:ext cx="1279188" cy="369332"/>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800" b="1" dirty="0">
                  <a:solidFill>
                    <a:schemeClr val="tx1">
                      <a:lumMod val="50000"/>
                      <a:lumOff val="50000"/>
                    </a:schemeClr>
                  </a:solidFill>
                </a:rPr>
                <a:t>Insights</a:t>
              </a:r>
            </a:p>
          </p:txBody>
        </p:sp>
      </p:grpSp>
      <p:sp>
        <p:nvSpPr>
          <p:cNvPr id="10" name="Google Shape;249;g21197e7cf6e_0_97">
            <a:extLst>
              <a:ext uri="{FF2B5EF4-FFF2-40B4-BE49-F238E27FC236}">
                <a16:creationId xmlns:a16="http://schemas.microsoft.com/office/drawing/2014/main" id="{38DD5257-A911-021F-1B80-D41417207663}"/>
              </a:ext>
            </a:extLst>
          </p:cNvPr>
          <p:cNvSpPr/>
          <p:nvPr/>
        </p:nvSpPr>
        <p:spPr>
          <a:xfrm>
            <a:off x="5501454" y="1714444"/>
            <a:ext cx="6653719" cy="3271211"/>
          </a:xfrm>
          <a:prstGeom prst="rect">
            <a:avLst/>
          </a:prstGeom>
          <a:solidFill>
            <a:schemeClr val="lt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lvl="0" indent="-285750">
              <a:lnSpc>
                <a:spcPct val="300000"/>
              </a:lnSpc>
              <a:buFont typeface="Arial" panose="020B0604020202020204" pitchFamily="34" charset="0"/>
              <a:buChar char="•"/>
            </a:pPr>
            <a:r>
              <a:rPr lang="en-US" sz="1600" dirty="0"/>
              <a:t>Wholesale leads: It makes up the largest share of sales at 54.1%.</a:t>
            </a:r>
          </a:p>
          <a:p>
            <a:pPr marL="285750" lvl="0" indent="-285750">
              <a:lnSpc>
                <a:spcPct val="300000"/>
              </a:lnSpc>
              <a:buFont typeface="Arial" panose="020B0604020202020204" pitchFamily="34" charset="0"/>
              <a:buChar char="•"/>
            </a:pPr>
            <a:r>
              <a:rPr lang="en-US" sz="1600" dirty="0"/>
              <a:t>Distributor is strong: Contributes a solid 31.3% of sales.</a:t>
            </a:r>
          </a:p>
          <a:p>
            <a:pPr marL="285750" lvl="0" indent="-285750">
              <a:lnSpc>
                <a:spcPct val="300000"/>
              </a:lnSpc>
              <a:buFont typeface="Arial" panose="020B0604020202020204" pitchFamily="34" charset="0"/>
              <a:buChar char="•"/>
            </a:pPr>
            <a:r>
              <a:rPr lang="en-US" sz="1600" dirty="0"/>
              <a:t>Export is smaller: Accounts for 14.6% of total sales.</a:t>
            </a:r>
          </a:p>
          <a:p>
            <a:pPr>
              <a:lnSpc>
                <a:spcPct val="300000"/>
              </a:lnSpc>
            </a:pPr>
            <a:r>
              <a:rPr lang="en-US" sz="1600" dirty="0"/>
              <a:t> </a:t>
            </a:r>
          </a:p>
        </p:txBody>
      </p:sp>
    </p:spTree>
    <p:extLst>
      <p:ext uri="{BB962C8B-B14F-4D97-AF65-F5344CB8AC3E}">
        <p14:creationId xmlns:p14="http://schemas.microsoft.com/office/powerpoint/2010/main" val="26045221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57;g21197e7cf6e_0_97">
            <a:extLst>
              <a:ext uri="{FF2B5EF4-FFF2-40B4-BE49-F238E27FC236}">
                <a16:creationId xmlns:a16="http://schemas.microsoft.com/office/drawing/2014/main" id="{DC1D2DAE-D83F-41B3-BA9B-429DF6D664CC}"/>
              </a:ext>
            </a:extLst>
          </p:cNvPr>
          <p:cNvSpPr txBox="1">
            <a:spLocks/>
          </p:cNvSpPr>
          <p:nvPr/>
        </p:nvSpPr>
        <p:spPr>
          <a:xfrm>
            <a:off x="211793" y="385150"/>
            <a:ext cx="8758036"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dirty="0">
                <a:solidFill>
                  <a:schemeClr val="tx1">
                    <a:lumMod val="75000"/>
                    <a:lumOff val="25000"/>
                  </a:schemeClr>
                </a:solidFill>
              </a:rPr>
              <a:t>Total Sales by State (Choropleth Map)</a:t>
            </a:r>
          </a:p>
        </p:txBody>
      </p:sp>
      <p:pic>
        <p:nvPicPr>
          <p:cNvPr id="6" name="Picture 5">
            <a:extLst>
              <a:ext uri="{FF2B5EF4-FFF2-40B4-BE49-F238E27FC236}">
                <a16:creationId xmlns:a16="http://schemas.microsoft.com/office/drawing/2014/main" id="{E2C9091E-C353-1F1F-75C8-084619CA679E}"/>
              </a:ext>
            </a:extLst>
          </p:cNvPr>
          <p:cNvPicPr>
            <a:picLocks noChangeAspect="1"/>
          </p:cNvPicPr>
          <p:nvPr/>
        </p:nvPicPr>
        <p:blipFill>
          <a:blip r:embed="rId2"/>
          <a:stretch>
            <a:fillRect/>
          </a:stretch>
        </p:blipFill>
        <p:spPr>
          <a:xfrm>
            <a:off x="386692" y="1223461"/>
            <a:ext cx="9225394" cy="3239682"/>
          </a:xfrm>
          <a:prstGeom prst="rect">
            <a:avLst/>
          </a:prstGeom>
        </p:spPr>
      </p:pic>
      <p:grpSp>
        <p:nvGrpSpPr>
          <p:cNvPr id="7" name="Group 6">
            <a:extLst>
              <a:ext uri="{FF2B5EF4-FFF2-40B4-BE49-F238E27FC236}">
                <a16:creationId xmlns:a16="http://schemas.microsoft.com/office/drawing/2014/main" id="{FB529DE5-AD5B-4A7E-ACA0-E8C1B4F5D534}"/>
              </a:ext>
            </a:extLst>
          </p:cNvPr>
          <p:cNvGrpSpPr/>
          <p:nvPr/>
        </p:nvGrpSpPr>
        <p:grpSpPr>
          <a:xfrm>
            <a:off x="547958" y="4809011"/>
            <a:ext cx="1520328" cy="520496"/>
            <a:chOff x="4990288" y="1782720"/>
            <a:chExt cx="1799684" cy="520496"/>
          </a:xfrm>
        </p:grpSpPr>
        <p:pic>
          <p:nvPicPr>
            <p:cNvPr id="8" name="Picture 7">
              <a:extLst>
                <a:ext uri="{FF2B5EF4-FFF2-40B4-BE49-F238E27FC236}">
                  <a16:creationId xmlns:a16="http://schemas.microsoft.com/office/drawing/2014/main" id="{4811A562-8C23-4D3F-8084-9B45B155E9CB}"/>
                </a:ext>
              </a:extLst>
            </p:cNvPr>
            <p:cNvPicPr>
              <a:picLocks noChangeAspect="1"/>
            </p:cNvPicPr>
            <p:nvPr/>
          </p:nvPicPr>
          <p:blipFill>
            <a:blip r:embed="rId3"/>
            <a:stretch>
              <a:fillRect/>
            </a:stretch>
          </p:blipFill>
          <p:spPr>
            <a:xfrm>
              <a:off x="4990288" y="1782720"/>
              <a:ext cx="520496" cy="520496"/>
            </a:xfrm>
            <a:prstGeom prst="rect">
              <a:avLst/>
            </a:prstGeom>
          </p:spPr>
        </p:pic>
        <p:sp>
          <p:nvSpPr>
            <p:cNvPr id="9" name="TextBox 13">
              <a:extLst>
                <a:ext uri="{FF2B5EF4-FFF2-40B4-BE49-F238E27FC236}">
                  <a16:creationId xmlns:a16="http://schemas.microsoft.com/office/drawing/2014/main" id="{7D84E2AC-8429-4100-ABE2-2D72B51BE836}"/>
                </a:ext>
              </a:extLst>
            </p:cNvPr>
            <p:cNvSpPr txBox="1"/>
            <p:nvPr/>
          </p:nvSpPr>
          <p:spPr>
            <a:xfrm flipH="1">
              <a:off x="5510784" y="1858302"/>
              <a:ext cx="1279188" cy="369332"/>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800" b="1" dirty="0">
                  <a:solidFill>
                    <a:schemeClr val="tx1">
                      <a:lumMod val="50000"/>
                      <a:lumOff val="50000"/>
                    </a:schemeClr>
                  </a:solidFill>
                </a:rPr>
                <a:t>Insights</a:t>
              </a:r>
            </a:p>
          </p:txBody>
        </p:sp>
      </p:grpSp>
      <p:sp>
        <p:nvSpPr>
          <p:cNvPr id="10" name="Google Shape;249;g21197e7cf6e_0_97">
            <a:extLst>
              <a:ext uri="{FF2B5EF4-FFF2-40B4-BE49-F238E27FC236}">
                <a16:creationId xmlns:a16="http://schemas.microsoft.com/office/drawing/2014/main" id="{075ACB69-1732-5CA1-F824-760192611B41}"/>
              </a:ext>
            </a:extLst>
          </p:cNvPr>
          <p:cNvSpPr/>
          <p:nvPr/>
        </p:nvSpPr>
        <p:spPr>
          <a:xfrm>
            <a:off x="1527973" y="5253925"/>
            <a:ext cx="8550612" cy="1604075"/>
          </a:xfrm>
          <a:prstGeom prst="rect">
            <a:avLst/>
          </a:prstGeom>
          <a:solidFill>
            <a:schemeClr val="lt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SzPts val="1800"/>
              <a:buFont typeface="Arial" panose="020B0604020202020204" pitchFamily="34" charset="0"/>
              <a:buChar char="•"/>
            </a:pPr>
            <a:r>
              <a:rPr lang="en-US" sz="1600" dirty="0">
                <a:latin typeface="Poppins" panose="020B0604020202020204" charset="0"/>
                <a:cs typeface="Poppins" panose="020B0604020202020204" charset="0"/>
              </a:rPr>
              <a:t>California is the leader: It has the highest total sales.</a:t>
            </a:r>
          </a:p>
          <a:p>
            <a:pPr marL="285750" lvl="0" indent="-285750">
              <a:buFont typeface="Arial" panose="020B0604020202020204" pitchFamily="34" charset="0"/>
              <a:buChar char="•"/>
            </a:pPr>
            <a:r>
              <a:rPr lang="en-US" sz="1600" dirty="0">
                <a:latin typeface="Poppins" panose="020B0604020202020204" charset="0"/>
                <a:cs typeface="Poppins" panose="020B0604020202020204" charset="0"/>
              </a:rPr>
              <a:t>Strong performers: Texas, Florida, and Illinois also show significant sales.</a:t>
            </a:r>
          </a:p>
          <a:p>
            <a:pPr marL="285750" lvl="0" indent="-285750">
              <a:buFont typeface="Arial" panose="020B0604020202020204" pitchFamily="34" charset="0"/>
              <a:buChar char="•"/>
            </a:pPr>
            <a:r>
              <a:rPr lang="en-US" sz="1600" dirty="0">
                <a:latin typeface="Poppins" panose="020B0604020202020204" charset="0"/>
                <a:cs typeface="Poppins" panose="020B0604020202020204" charset="0"/>
              </a:rPr>
              <a:t>Mixed results: Other states range from moderate to low sales.</a:t>
            </a:r>
          </a:p>
          <a:p>
            <a:pPr marL="285750" lvl="0" indent="-285750">
              <a:buFont typeface="Arial" panose="020B0604020202020204" pitchFamily="34" charset="0"/>
              <a:buChar char="•"/>
            </a:pPr>
            <a:r>
              <a:rPr lang="en-US" sz="1600" dirty="0">
                <a:latin typeface="Poppins" panose="020B0604020202020204" charset="0"/>
                <a:cs typeface="Poppins" panose="020B0604020202020204" charset="0"/>
              </a:rPr>
              <a:t>Pattern: Bigger states and some coastal states tend to have higher sales.</a:t>
            </a:r>
          </a:p>
          <a:p>
            <a:pPr marL="285750" indent="-285750">
              <a:buSzPts val="1800"/>
              <a:buFont typeface="Arial" panose="020B0604020202020204" pitchFamily="34" charset="0"/>
              <a:buChar char="•"/>
            </a:pPr>
            <a:endParaRPr lang="en-GB" sz="1600" dirty="0">
              <a:latin typeface="Poppins" panose="020B0604020202020204" charset="0"/>
              <a:cs typeface="Poppins" panose="020B0604020202020204" charset="0"/>
            </a:endParaRPr>
          </a:p>
        </p:txBody>
      </p:sp>
    </p:spTree>
    <p:extLst>
      <p:ext uri="{BB962C8B-B14F-4D97-AF65-F5344CB8AC3E}">
        <p14:creationId xmlns:p14="http://schemas.microsoft.com/office/powerpoint/2010/main" val="35849511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57;g21197e7cf6e_0_97">
            <a:extLst>
              <a:ext uri="{FF2B5EF4-FFF2-40B4-BE49-F238E27FC236}">
                <a16:creationId xmlns:a16="http://schemas.microsoft.com/office/drawing/2014/main" id="{A6A7C502-D0D1-4F88-90F1-186C62EBA5B2}"/>
              </a:ext>
            </a:extLst>
          </p:cNvPr>
          <p:cNvSpPr txBox="1">
            <a:spLocks/>
          </p:cNvSpPr>
          <p:nvPr/>
        </p:nvSpPr>
        <p:spPr>
          <a:xfrm>
            <a:off x="362403" y="398938"/>
            <a:ext cx="6566717"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dirty="0">
                <a:solidFill>
                  <a:schemeClr val="tx1">
                    <a:lumMod val="75000"/>
                    <a:lumOff val="25000"/>
                  </a:schemeClr>
                </a:solidFill>
              </a:rPr>
              <a:t>Total Sales by US Region</a:t>
            </a:r>
          </a:p>
        </p:txBody>
      </p:sp>
      <p:pic>
        <p:nvPicPr>
          <p:cNvPr id="6" name="Picture 5">
            <a:extLst>
              <a:ext uri="{FF2B5EF4-FFF2-40B4-BE49-F238E27FC236}">
                <a16:creationId xmlns:a16="http://schemas.microsoft.com/office/drawing/2014/main" id="{607E0203-4246-D819-697E-A9716920939F}"/>
              </a:ext>
            </a:extLst>
          </p:cNvPr>
          <p:cNvPicPr>
            <a:picLocks noChangeAspect="1"/>
          </p:cNvPicPr>
          <p:nvPr/>
        </p:nvPicPr>
        <p:blipFill>
          <a:blip r:embed="rId2"/>
          <a:stretch>
            <a:fillRect/>
          </a:stretch>
        </p:blipFill>
        <p:spPr>
          <a:xfrm>
            <a:off x="149043" y="1008303"/>
            <a:ext cx="8020462" cy="2971953"/>
          </a:xfrm>
          <a:prstGeom prst="rect">
            <a:avLst/>
          </a:prstGeom>
        </p:spPr>
      </p:pic>
      <p:sp>
        <p:nvSpPr>
          <p:cNvPr id="10" name="Google Shape;249;g21197e7cf6e_0_97">
            <a:extLst>
              <a:ext uri="{FF2B5EF4-FFF2-40B4-BE49-F238E27FC236}">
                <a16:creationId xmlns:a16="http://schemas.microsoft.com/office/drawing/2014/main" id="{F4DB1B30-5ECB-9819-338C-06E793F4EF5B}"/>
              </a:ext>
            </a:extLst>
          </p:cNvPr>
          <p:cNvSpPr/>
          <p:nvPr/>
        </p:nvSpPr>
        <p:spPr>
          <a:xfrm>
            <a:off x="1361440" y="4168299"/>
            <a:ext cx="9580880" cy="2361884"/>
          </a:xfrm>
          <a:prstGeom prst="rect">
            <a:avLst/>
          </a:prstGeom>
          <a:solidFill>
            <a:schemeClr val="lt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West: Highest sales, strong market influence.</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South: Major sales contributor, key market area.</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Midwest: Steady sales performance, moderate market size.</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Northeast: Lowest sales, suggests need for deeper market understanding.</a:t>
            </a:r>
            <a:endParaRPr sz="1600" b="0" i="0" u="none" strike="noStrike" cap="none" dirty="0">
              <a:solidFill>
                <a:schemeClr val="lt1"/>
              </a:solidFill>
              <a:latin typeface="Poppins" panose="020B0604020202020204" charset="0"/>
              <a:ea typeface="Poppins"/>
              <a:cs typeface="Poppins" panose="020B0604020202020204" charset="0"/>
              <a:sym typeface="Poppins"/>
            </a:endParaRPr>
          </a:p>
        </p:txBody>
      </p:sp>
      <p:grpSp>
        <p:nvGrpSpPr>
          <p:cNvPr id="7" name="Group 6">
            <a:extLst>
              <a:ext uri="{FF2B5EF4-FFF2-40B4-BE49-F238E27FC236}">
                <a16:creationId xmlns:a16="http://schemas.microsoft.com/office/drawing/2014/main" id="{63B97E8D-6AB6-47D6-B7BE-022EAFDCB715}"/>
              </a:ext>
            </a:extLst>
          </p:cNvPr>
          <p:cNvGrpSpPr/>
          <p:nvPr/>
        </p:nvGrpSpPr>
        <p:grpSpPr>
          <a:xfrm>
            <a:off x="616403" y="4168299"/>
            <a:ext cx="1799684" cy="520496"/>
            <a:chOff x="4990288" y="1782720"/>
            <a:chExt cx="1799684" cy="520496"/>
          </a:xfrm>
        </p:grpSpPr>
        <p:pic>
          <p:nvPicPr>
            <p:cNvPr id="8" name="Picture 7">
              <a:extLst>
                <a:ext uri="{FF2B5EF4-FFF2-40B4-BE49-F238E27FC236}">
                  <a16:creationId xmlns:a16="http://schemas.microsoft.com/office/drawing/2014/main" id="{2AE2EE14-4869-439A-95FA-38CFD24206CA}"/>
                </a:ext>
              </a:extLst>
            </p:cNvPr>
            <p:cNvPicPr>
              <a:picLocks noChangeAspect="1"/>
            </p:cNvPicPr>
            <p:nvPr/>
          </p:nvPicPr>
          <p:blipFill>
            <a:blip r:embed="rId3"/>
            <a:stretch>
              <a:fillRect/>
            </a:stretch>
          </p:blipFill>
          <p:spPr>
            <a:xfrm>
              <a:off x="4990288" y="1782720"/>
              <a:ext cx="520496" cy="520496"/>
            </a:xfrm>
            <a:prstGeom prst="rect">
              <a:avLst/>
            </a:prstGeom>
          </p:spPr>
        </p:pic>
        <p:sp>
          <p:nvSpPr>
            <p:cNvPr id="9" name="TextBox 12">
              <a:extLst>
                <a:ext uri="{FF2B5EF4-FFF2-40B4-BE49-F238E27FC236}">
                  <a16:creationId xmlns:a16="http://schemas.microsoft.com/office/drawing/2014/main" id="{478E7F2E-8BD3-4E70-9CD7-9C1A3255C0C0}"/>
                </a:ext>
              </a:extLst>
            </p:cNvPr>
            <p:cNvSpPr txBox="1"/>
            <p:nvPr/>
          </p:nvSpPr>
          <p:spPr>
            <a:xfrm flipH="1">
              <a:off x="5510784" y="1858302"/>
              <a:ext cx="1279188" cy="369332"/>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800" b="1" dirty="0">
                  <a:solidFill>
                    <a:schemeClr val="tx1">
                      <a:lumMod val="50000"/>
                      <a:lumOff val="50000"/>
                    </a:schemeClr>
                  </a:solidFill>
                </a:rPr>
                <a:t>Insights</a:t>
              </a:r>
            </a:p>
          </p:txBody>
        </p:sp>
      </p:grpSp>
    </p:spTree>
    <p:extLst>
      <p:ext uri="{BB962C8B-B14F-4D97-AF65-F5344CB8AC3E}">
        <p14:creationId xmlns:p14="http://schemas.microsoft.com/office/powerpoint/2010/main" val="12785809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257;g21197e7cf6e_0_97">
            <a:extLst>
              <a:ext uri="{FF2B5EF4-FFF2-40B4-BE49-F238E27FC236}">
                <a16:creationId xmlns:a16="http://schemas.microsoft.com/office/drawing/2014/main" id="{B141D559-8CD7-4408-B94F-8E88E2EC2263}"/>
              </a:ext>
            </a:extLst>
          </p:cNvPr>
          <p:cNvSpPr txBox="1">
            <a:spLocks/>
          </p:cNvSpPr>
          <p:nvPr/>
        </p:nvSpPr>
        <p:spPr>
          <a:xfrm>
            <a:off x="105257" y="266858"/>
            <a:ext cx="8466127" cy="984885"/>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dirty="0">
                <a:solidFill>
                  <a:schemeClr val="tx1">
                    <a:lumMod val="75000"/>
                    <a:lumOff val="25000"/>
                  </a:schemeClr>
                </a:solidFill>
              </a:rPr>
              <a:t>Average Order Value (AOV) Distribution</a:t>
            </a:r>
          </a:p>
        </p:txBody>
      </p:sp>
      <p:pic>
        <p:nvPicPr>
          <p:cNvPr id="7" name="Picture 6">
            <a:extLst>
              <a:ext uri="{FF2B5EF4-FFF2-40B4-BE49-F238E27FC236}">
                <a16:creationId xmlns:a16="http://schemas.microsoft.com/office/drawing/2014/main" id="{48BAD0AA-7E45-9139-74CA-E92EB3AFECCF}"/>
              </a:ext>
            </a:extLst>
          </p:cNvPr>
          <p:cNvPicPr>
            <a:picLocks noChangeAspect="1"/>
          </p:cNvPicPr>
          <p:nvPr/>
        </p:nvPicPr>
        <p:blipFill>
          <a:blip r:embed="rId2"/>
          <a:stretch>
            <a:fillRect/>
          </a:stretch>
        </p:blipFill>
        <p:spPr>
          <a:xfrm>
            <a:off x="310705" y="1144201"/>
            <a:ext cx="7709296" cy="2679838"/>
          </a:xfrm>
          <a:prstGeom prst="rect">
            <a:avLst/>
          </a:prstGeom>
        </p:spPr>
      </p:pic>
      <p:sp>
        <p:nvSpPr>
          <p:cNvPr id="11" name="TextBox 11">
            <a:extLst>
              <a:ext uri="{FF2B5EF4-FFF2-40B4-BE49-F238E27FC236}">
                <a16:creationId xmlns:a16="http://schemas.microsoft.com/office/drawing/2014/main" id="{AD355348-2153-4E05-AB5A-3DD90DEBF1A7}"/>
              </a:ext>
            </a:extLst>
          </p:cNvPr>
          <p:cNvSpPr txBox="1"/>
          <p:nvPr/>
        </p:nvSpPr>
        <p:spPr>
          <a:xfrm flipH="1">
            <a:off x="2325519" y="2383449"/>
            <a:ext cx="1279188" cy="369332"/>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IN" sz="1800" b="1" dirty="0">
              <a:solidFill>
                <a:schemeClr val="tx1">
                  <a:lumMod val="50000"/>
                  <a:lumOff val="50000"/>
                </a:schemeClr>
              </a:solidFill>
            </a:endParaRPr>
          </a:p>
        </p:txBody>
      </p:sp>
      <p:sp>
        <p:nvSpPr>
          <p:cNvPr id="12" name="Google Shape;249;g21197e7cf6e_0_97">
            <a:extLst>
              <a:ext uri="{FF2B5EF4-FFF2-40B4-BE49-F238E27FC236}">
                <a16:creationId xmlns:a16="http://schemas.microsoft.com/office/drawing/2014/main" id="{461F5F6F-1EE4-F166-264D-C21473286354}"/>
              </a:ext>
            </a:extLst>
          </p:cNvPr>
          <p:cNvSpPr/>
          <p:nvPr/>
        </p:nvSpPr>
        <p:spPr>
          <a:xfrm>
            <a:off x="880100" y="4550134"/>
            <a:ext cx="8012558" cy="1825163"/>
          </a:xfrm>
          <a:prstGeom prst="rect">
            <a:avLst/>
          </a:prstGeom>
          <a:solidFill>
            <a:schemeClr val="lt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Low average order values are frequent.</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Distribution is right-skewed (long tail of high-value orders).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Multiple order value clusters exist.</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Higher order values are less common.</a:t>
            </a:r>
            <a:endParaRPr sz="1200" b="0" i="0" u="none" strike="noStrike" cap="none" dirty="0">
              <a:solidFill>
                <a:schemeClr val="lt1"/>
              </a:solidFill>
              <a:latin typeface="Poppins" panose="020B0604020202020204" charset="0"/>
              <a:ea typeface="Poppins"/>
              <a:cs typeface="Poppins" panose="020B0604020202020204" charset="0"/>
              <a:sym typeface="Poppins"/>
            </a:endParaRPr>
          </a:p>
        </p:txBody>
      </p:sp>
      <p:grpSp>
        <p:nvGrpSpPr>
          <p:cNvPr id="13" name="Group 12">
            <a:extLst>
              <a:ext uri="{FF2B5EF4-FFF2-40B4-BE49-F238E27FC236}">
                <a16:creationId xmlns:a16="http://schemas.microsoft.com/office/drawing/2014/main" id="{D2F9364C-5D3E-EB5C-162F-DB96349D37ED}"/>
              </a:ext>
            </a:extLst>
          </p:cNvPr>
          <p:cNvGrpSpPr/>
          <p:nvPr/>
        </p:nvGrpSpPr>
        <p:grpSpPr>
          <a:xfrm>
            <a:off x="209105" y="4011110"/>
            <a:ext cx="1799684" cy="520496"/>
            <a:chOff x="4990288" y="1782720"/>
            <a:chExt cx="1799684" cy="520496"/>
          </a:xfrm>
        </p:grpSpPr>
        <p:pic>
          <p:nvPicPr>
            <p:cNvPr id="14" name="Picture 13">
              <a:extLst>
                <a:ext uri="{FF2B5EF4-FFF2-40B4-BE49-F238E27FC236}">
                  <a16:creationId xmlns:a16="http://schemas.microsoft.com/office/drawing/2014/main" id="{C0F01577-7894-18B1-665A-E07ADD91D280}"/>
                </a:ext>
              </a:extLst>
            </p:cNvPr>
            <p:cNvPicPr>
              <a:picLocks noChangeAspect="1"/>
            </p:cNvPicPr>
            <p:nvPr/>
          </p:nvPicPr>
          <p:blipFill>
            <a:blip r:embed="rId3"/>
            <a:stretch>
              <a:fillRect/>
            </a:stretch>
          </p:blipFill>
          <p:spPr>
            <a:xfrm>
              <a:off x="4990288" y="1782720"/>
              <a:ext cx="520496" cy="520496"/>
            </a:xfrm>
            <a:prstGeom prst="rect">
              <a:avLst/>
            </a:prstGeom>
          </p:spPr>
        </p:pic>
        <p:sp>
          <p:nvSpPr>
            <p:cNvPr id="15" name="TextBox 11">
              <a:extLst>
                <a:ext uri="{FF2B5EF4-FFF2-40B4-BE49-F238E27FC236}">
                  <a16:creationId xmlns:a16="http://schemas.microsoft.com/office/drawing/2014/main" id="{96B383C9-05DE-51CA-36D5-C0C5071FDBFA}"/>
                </a:ext>
              </a:extLst>
            </p:cNvPr>
            <p:cNvSpPr txBox="1"/>
            <p:nvPr/>
          </p:nvSpPr>
          <p:spPr>
            <a:xfrm flipH="1">
              <a:off x="5510784" y="1858302"/>
              <a:ext cx="1279188" cy="369332"/>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800" b="1" dirty="0">
                  <a:solidFill>
                    <a:schemeClr val="tx1">
                      <a:lumMod val="50000"/>
                      <a:lumOff val="50000"/>
                    </a:schemeClr>
                  </a:solidFill>
                </a:rPr>
                <a:t>Insights</a:t>
              </a:r>
            </a:p>
          </p:txBody>
        </p:sp>
      </p:grpSp>
    </p:spTree>
    <p:extLst>
      <p:ext uri="{BB962C8B-B14F-4D97-AF65-F5344CB8AC3E}">
        <p14:creationId xmlns:p14="http://schemas.microsoft.com/office/powerpoint/2010/main" val="35157678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57;g21197e7cf6e_0_97">
            <a:extLst>
              <a:ext uri="{FF2B5EF4-FFF2-40B4-BE49-F238E27FC236}">
                <a16:creationId xmlns:a16="http://schemas.microsoft.com/office/drawing/2014/main" id="{6E04CD2A-9940-40FB-B232-1212B8ECF12B}"/>
              </a:ext>
            </a:extLst>
          </p:cNvPr>
          <p:cNvSpPr txBox="1">
            <a:spLocks/>
          </p:cNvSpPr>
          <p:nvPr/>
        </p:nvSpPr>
        <p:spPr>
          <a:xfrm>
            <a:off x="316866" y="388778"/>
            <a:ext cx="9018268"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dirty="0">
                <a:solidFill>
                  <a:schemeClr val="tx1">
                    <a:lumMod val="75000"/>
                    <a:lumOff val="25000"/>
                  </a:schemeClr>
                </a:solidFill>
              </a:rPr>
              <a:t>Top State Performance: Revenue vs. Orders</a:t>
            </a:r>
          </a:p>
        </p:txBody>
      </p:sp>
      <p:pic>
        <p:nvPicPr>
          <p:cNvPr id="6" name="Picture 5">
            <a:extLst>
              <a:ext uri="{FF2B5EF4-FFF2-40B4-BE49-F238E27FC236}">
                <a16:creationId xmlns:a16="http://schemas.microsoft.com/office/drawing/2014/main" id="{6A073AB6-A55B-E0FA-FCB2-CB8CB2A9C55F}"/>
              </a:ext>
            </a:extLst>
          </p:cNvPr>
          <p:cNvPicPr>
            <a:picLocks noChangeAspect="1"/>
          </p:cNvPicPr>
          <p:nvPr/>
        </p:nvPicPr>
        <p:blipFill>
          <a:blip r:embed="rId2"/>
          <a:stretch>
            <a:fillRect/>
          </a:stretch>
        </p:blipFill>
        <p:spPr>
          <a:xfrm>
            <a:off x="32386" y="1650946"/>
            <a:ext cx="5626734" cy="2402894"/>
          </a:xfrm>
          <a:prstGeom prst="rect">
            <a:avLst/>
          </a:prstGeom>
        </p:spPr>
      </p:pic>
      <p:pic>
        <p:nvPicPr>
          <p:cNvPr id="8" name="Picture 7">
            <a:extLst>
              <a:ext uri="{FF2B5EF4-FFF2-40B4-BE49-F238E27FC236}">
                <a16:creationId xmlns:a16="http://schemas.microsoft.com/office/drawing/2014/main" id="{BCB88D01-A7C5-505B-5076-E0E4827C90DF}"/>
              </a:ext>
            </a:extLst>
          </p:cNvPr>
          <p:cNvPicPr>
            <a:picLocks noChangeAspect="1"/>
          </p:cNvPicPr>
          <p:nvPr/>
        </p:nvPicPr>
        <p:blipFill>
          <a:blip r:embed="rId3"/>
          <a:stretch>
            <a:fillRect/>
          </a:stretch>
        </p:blipFill>
        <p:spPr>
          <a:xfrm>
            <a:off x="6024881" y="1650946"/>
            <a:ext cx="5801359" cy="2402893"/>
          </a:xfrm>
          <a:prstGeom prst="rect">
            <a:avLst/>
          </a:prstGeom>
        </p:spPr>
      </p:pic>
      <p:sp>
        <p:nvSpPr>
          <p:cNvPr id="13" name="Google Shape;249;g21197e7cf6e_0_97">
            <a:extLst>
              <a:ext uri="{FF2B5EF4-FFF2-40B4-BE49-F238E27FC236}">
                <a16:creationId xmlns:a16="http://schemas.microsoft.com/office/drawing/2014/main" id="{070DD38F-58F8-6BAB-B952-F4C04BF822B7}"/>
              </a:ext>
            </a:extLst>
          </p:cNvPr>
          <p:cNvSpPr/>
          <p:nvPr/>
        </p:nvSpPr>
        <p:spPr>
          <a:xfrm>
            <a:off x="2248568" y="4753264"/>
            <a:ext cx="6702392" cy="1715958"/>
          </a:xfrm>
          <a:prstGeom prst="rect">
            <a:avLst/>
          </a:prstGeom>
          <a:solidFill>
            <a:schemeClr val="lt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California tops revenue &amp; orders.</a:t>
            </a:r>
            <a:br>
              <a:rPr lang="en-GB" sz="1600" dirty="0">
                <a:effectLst/>
                <a:latin typeface="Poppins" panose="020B0604020202020204" charset="0"/>
                <a:cs typeface="Poppins" panose="020B0604020202020204" charset="0"/>
              </a:rPr>
            </a:b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IL, FL, TX: High in both.</a:t>
            </a:r>
            <a:br>
              <a:rPr lang="en-GB" sz="1600" dirty="0">
                <a:effectLst/>
                <a:latin typeface="Poppins" panose="020B0604020202020204" charset="0"/>
                <a:cs typeface="Poppins" panose="020B0604020202020204" charset="0"/>
              </a:rPr>
            </a:b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Revenue &amp; orders linked.</a:t>
            </a:r>
            <a:br>
              <a:rPr lang="en-GB" sz="1600" dirty="0">
                <a:effectLst/>
                <a:latin typeface="Poppins" panose="020B0604020202020204" charset="0"/>
                <a:cs typeface="Poppins" panose="020B0604020202020204" charset="0"/>
              </a:rPr>
            </a:b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Other top states: Lower contribution.</a:t>
            </a:r>
            <a:endParaRPr sz="1600" b="0" i="0" u="none" strike="noStrike" cap="none" dirty="0">
              <a:solidFill>
                <a:schemeClr val="lt1"/>
              </a:solidFill>
              <a:latin typeface="Poppins" panose="020B0604020202020204" charset="0"/>
              <a:ea typeface="Poppins"/>
              <a:cs typeface="Poppins" panose="020B0604020202020204" charset="0"/>
              <a:sym typeface="Poppins"/>
            </a:endParaRPr>
          </a:p>
        </p:txBody>
      </p:sp>
      <p:grpSp>
        <p:nvGrpSpPr>
          <p:cNvPr id="14" name="Group 13">
            <a:extLst>
              <a:ext uri="{FF2B5EF4-FFF2-40B4-BE49-F238E27FC236}">
                <a16:creationId xmlns:a16="http://schemas.microsoft.com/office/drawing/2014/main" id="{F539B1E7-A68B-482C-BF28-483E6C67864B}"/>
              </a:ext>
            </a:extLst>
          </p:cNvPr>
          <p:cNvGrpSpPr/>
          <p:nvPr/>
        </p:nvGrpSpPr>
        <p:grpSpPr>
          <a:xfrm>
            <a:off x="552064" y="4312780"/>
            <a:ext cx="1789524" cy="520496"/>
            <a:chOff x="5000448" y="1782720"/>
            <a:chExt cx="1789524" cy="520496"/>
          </a:xfrm>
        </p:grpSpPr>
        <p:pic>
          <p:nvPicPr>
            <p:cNvPr id="15" name="Picture 14">
              <a:extLst>
                <a:ext uri="{FF2B5EF4-FFF2-40B4-BE49-F238E27FC236}">
                  <a16:creationId xmlns:a16="http://schemas.microsoft.com/office/drawing/2014/main" id="{DF51A848-9858-AB6F-328D-84E8389EB773}"/>
                </a:ext>
              </a:extLst>
            </p:cNvPr>
            <p:cNvPicPr>
              <a:picLocks noChangeAspect="1"/>
            </p:cNvPicPr>
            <p:nvPr/>
          </p:nvPicPr>
          <p:blipFill>
            <a:blip r:embed="rId4"/>
            <a:stretch>
              <a:fillRect/>
            </a:stretch>
          </p:blipFill>
          <p:spPr>
            <a:xfrm>
              <a:off x="5000448" y="1782720"/>
              <a:ext cx="520496" cy="520496"/>
            </a:xfrm>
            <a:prstGeom prst="rect">
              <a:avLst/>
            </a:prstGeom>
          </p:spPr>
        </p:pic>
        <p:sp>
          <p:nvSpPr>
            <p:cNvPr id="16" name="TextBox 17">
              <a:extLst>
                <a:ext uri="{FF2B5EF4-FFF2-40B4-BE49-F238E27FC236}">
                  <a16:creationId xmlns:a16="http://schemas.microsoft.com/office/drawing/2014/main" id="{DAD432AA-A384-AE10-1681-AE0AC85BA294}"/>
                </a:ext>
              </a:extLst>
            </p:cNvPr>
            <p:cNvSpPr txBox="1"/>
            <p:nvPr/>
          </p:nvSpPr>
          <p:spPr>
            <a:xfrm flipH="1">
              <a:off x="5510784" y="1858302"/>
              <a:ext cx="1279188" cy="369332"/>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800" b="1" dirty="0">
                  <a:solidFill>
                    <a:schemeClr val="tx1">
                      <a:lumMod val="50000"/>
                      <a:lumOff val="50000"/>
                    </a:schemeClr>
                  </a:solidFill>
                </a:rPr>
                <a:t>Insights</a:t>
              </a:r>
            </a:p>
          </p:txBody>
        </p:sp>
      </p:grpSp>
    </p:spTree>
    <p:extLst>
      <p:ext uri="{BB962C8B-B14F-4D97-AF65-F5344CB8AC3E}">
        <p14:creationId xmlns:p14="http://schemas.microsoft.com/office/powerpoint/2010/main" val="6380391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49;g21197e7cf6e_0_97">
            <a:extLst>
              <a:ext uri="{FF2B5EF4-FFF2-40B4-BE49-F238E27FC236}">
                <a16:creationId xmlns:a16="http://schemas.microsoft.com/office/drawing/2014/main" id="{136441C3-1634-22AA-8521-D8AE375C8A77}"/>
              </a:ext>
            </a:extLst>
          </p:cNvPr>
          <p:cNvSpPr/>
          <p:nvPr/>
        </p:nvSpPr>
        <p:spPr>
          <a:xfrm>
            <a:off x="1896476" y="5094947"/>
            <a:ext cx="9231548" cy="1498059"/>
          </a:xfrm>
          <a:prstGeom prst="rect">
            <a:avLst/>
          </a:prstGeom>
          <a:solidFill>
            <a:schemeClr val="lt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Aibox Company leads significantly as the top revenue generator.</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Bottom 10 customers generate substantially less revenue (around $4-5M).</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Revenue concentration: Top customers drive a disproportionate share.</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Large gap: Exists between the revenue of top and bottom tier customers.</a:t>
            </a:r>
            <a:endParaRPr sz="1600" b="0" i="0" u="none" strike="noStrike" cap="none" dirty="0">
              <a:solidFill>
                <a:schemeClr val="lt1"/>
              </a:solidFill>
              <a:latin typeface="Poppins" panose="020B0604020202020204" charset="0"/>
              <a:ea typeface="Poppins"/>
              <a:cs typeface="Poppins" panose="020B0604020202020204" charset="0"/>
              <a:sym typeface="Poppins"/>
            </a:endParaRPr>
          </a:p>
        </p:txBody>
      </p:sp>
      <p:grpSp>
        <p:nvGrpSpPr>
          <p:cNvPr id="6" name="Group 5">
            <a:extLst>
              <a:ext uri="{FF2B5EF4-FFF2-40B4-BE49-F238E27FC236}">
                <a16:creationId xmlns:a16="http://schemas.microsoft.com/office/drawing/2014/main" id="{3BEE92BF-EDF0-43AD-84EB-6B78097D0AE5}"/>
              </a:ext>
            </a:extLst>
          </p:cNvPr>
          <p:cNvGrpSpPr/>
          <p:nvPr/>
        </p:nvGrpSpPr>
        <p:grpSpPr>
          <a:xfrm>
            <a:off x="399281" y="4611179"/>
            <a:ext cx="1799684" cy="520496"/>
            <a:chOff x="4990288" y="1782720"/>
            <a:chExt cx="1799684" cy="520496"/>
          </a:xfrm>
        </p:grpSpPr>
        <p:pic>
          <p:nvPicPr>
            <p:cNvPr id="8" name="Picture 7">
              <a:extLst>
                <a:ext uri="{FF2B5EF4-FFF2-40B4-BE49-F238E27FC236}">
                  <a16:creationId xmlns:a16="http://schemas.microsoft.com/office/drawing/2014/main" id="{805499F1-5CF7-482E-9CC3-85D032E64813}"/>
                </a:ext>
              </a:extLst>
            </p:cNvPr>
            <p:cNvPicPr>
              <a:picLocks noChangeAspect="1"/>
            </p:cNvPicPr>
            <p:nvPr/>
          </p:nvPicPr>
          <p:blipFill>
            <a:blip r:embed="rId2"/>
            <a:stretch>
              <a:fillRect/>
            </a:stretch>
          </p:blipFill>
          <p:spPr>
            <a:xfrm>
              <a:off x="4990288" y="1782720"/>
              <a:ext cx="520496" cy="520496"/>
            </a:xfrm>
            <a:prstGeom prst="rect">
              <a:avLst/>
            </a:prstGeom>
          </p:spPr>
        </p:pic>
        <p:sp>
          <p:nvSpPr>
            <p:cNvPr id="9" name="TextBox 16">
              <a:extLst>
                <a:ext uri="{FF2B5EF4-FFF2-40B4-BE49-F238E27FC236}">
                  <a16:creationId xmlns:a16="http://schemas.microsoft.com/office/drawing/2014/main" id="{F3DBDAF9-3B3E-479B-8CE3-C15C29F0998F}"/>
                </a:ext>
              </a:extLst>
            </p:cNvPr>
            <p:cNvSpPr txBox="1"/>
            <p:nvPr/>
          </p:nvSpPr>
          <p:spPr>
            <a:xfrm flipH="1">
              <a:off x="5510784" y="1858302"/>
              <a:ext cx="1279188" cy="369332"/>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800" b="1" dirty="0">
                  <a:solidFill>
                    <a:schemeClr val="tx1">
                      <a:lumMod val="50000"/>
                      <a:lumOff val="50000"/>
                    </a:schemeClr>
                  </a:solidFill>
                </a:rPr>
                <a:t>Insights</a:t>
              </a:r>
            </a:p>
          </p:txBody>
        </p:sp>
      </p:grpSp>
      <p:sp>
        <p:nvSpPr>
          <p:cNvPr id="7" name="Google Shape;257;g21197e7cf6e_0_97">
            <a:extLst>
              <a:ext uri="{FF2B5EF4-FFF2-40B4-BE49-F238E27FC236}">
                <a16:creationId xmlns:a16="http://schemas.microsoft.com/office/drawing/2014/main" id="{2449E120-C251-406B-9222-741B21FC9E12}"/>
              </a:ext>
            </a:extLst>
          </p:cNvPr>
          <p:cNvSpPr txBox="1">
            <a:spLocks/>
          </p:cNvSpPr>
          <p:nvPr/>
        </p:nvSpPr>
        <p:spPr>
          <a:xfrm>
            <a:off x="426871" y="325954"/>
            <a:ext cx="8959902"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dirty="0">
                <a:solidFill>
                  <a:schemeClr val="tx1">
                    <a:lumMod val="75000"/>
                    <a:lumOff val="25000"/>
                  </a:schemeClr>
                </a:solidFill>
              </a:rPr>
              <a:t>Top and Bottom 10 Customers by Revenue</a:t>
            </a:r>
          </a:p>
        </p:txBody>
      </p:sp>
      <p:pic>
        <p:nvPicPr>
          <p:cNvPr id="11" name="Picture 10">
            <a:extLst>
              <a:ext uri="{FF2B5EF4-FFF2-40B4-BE49-F238E27FC236}">
                <a16:creationId xmlns:a16="http://schemas.microsoft.com/office/drawing/2014/main" id="{08CF1A7E-6CC2-3D38-8568-406C7884A799}"/>
              </a:ext>
            </a:extLst>
          </p:cNvPr>
          <p:cNvPicPr>
            <a:picLocks noChangeAspect="1"/>
          </p:cNvPicPr>
          <p:nvPr/>
        </p:nvPicPr>
        <p:blipFill>
          <a:blip r:embed="rId3"/>
          <a:stretch>
            <a:fillRect/>
          </a:stretch>
        </p:blipFill>
        <p:spPr>
          <a:xfrm>
            <a:off x="426871" y="972717"/>
            <a:ext cx="10586569" cy="3316654"/>
          </a:xfrm>
          <a:prstGeom prst="rect">
            <a:avLst/>
          </a:prstGeom>
        </p:spPr>
      </p:pic>
    </p:spTree>
    <p:extLst>
      <p:ext uri="{BB962C8B-B14F-4D97-AF65-F5344CB8AC3E}">
        <p14:creationId xmlns:p14="http://schemas.microsoft.com/office/powerpoint/2010/main" val="18783008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57;g21197e7cf6e_0_97">
            <a:extLst>
              <a:ext uri="{FF2B5EF4-FFF2-40B4-BE49-F238E27FC236}">
                <a16:creationId xmlns:a16="http://schemas.microsoft.com/office/drawing/2014/main" id="{EC3F2E8A-CC3A-44EC-BB95-D0A91F6B51B8}"/>
              </a:ext>
            </a:extLst>
          </p:cNvPr>
          <p:cNvSpPr txBox="1">
            <a:spLocks/>
          </p:cNvSpPr>
          <p:nvPr/>
        </p:nvSpPr>
        <p:spPr>
          <a:xfrm>
            <a:off x="-46526" y="226218"/>
            <a:ext cx="10781370" cy="984885"/>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dirty="0">
                <a:solidFill>
                  <a:schemeClr val="tx1">
                    <a:lumMod val="75000"/>
                    <a:lumOff val="25000"/>
                  </a:schemeClr>
                </a:solidFill>
              </a:rPr>
              <a:t>Customer Segmentation: Revenue vs. Profit Margin</a:t>
            </a:r>
          </a:p>
        </p:txBody>
      </p:sp>
      <p:pic>
        <p:nvPicPr>
          <p:cNvPr id="6" name="Picture 5">
            <a:extLst>
              <a:ext uri="{FF2B5EF4-FFF2-40B4-BE49-F238E27FC236}">
                <a16:creationId xmlns:a16="http://schemas.microsoft.com/office/drawing/2014/main" id="{7E699B5C-CA72-19DB-AC12-788668F67EF6}"/>
              </a:ext>
            </a:extLst>
          </p:cNvPr>
          <p:cNvPicPr>
            <a:picLocks noChangeAspect="1"/>
          </p:cNvPicPr>
          <p:nvPr/>
        </p:nvPicPr>
        <p:blipFill>
          <a:blip r:embed="rId2"/>
          <a:stretch>
            <a:fillRect/>
          </a:stretch>
        </p:blipFill>
        <p:spPr>
          <a:xfrm>
            <a:off x="163817" y="1234440"/>
            <a:ext cx="6399543" cy="3537132"/>
          </a:xfrm>
          <a:prstGeom prst="rect">
            <a:avLst/>
          </a:prstGeom>
        </p:spPr>
      </p:pic>
      <p:grpSp>
        <p:nvGrpSpPr>
          <p:cNvPr id="7" name="Group 6">
            <a:extLst>
              <a:ext uri="{FF2B5EF4-FFF2-40B4-BE49-F238E27FC236}">
                <a16:creationId xmlns:a16="http://schemas.microsoft.com/office/drawing/2014/main" id="{0424FEB4-C23A-4F5C-94D6-30B974864E0F}"/>
              </a:ext>
            </a:extLst>
          </p:cNvPr>
          <p:cNvGrpSpPr/>
          <p:nvPr/>
        </p:nvGrpSpPr>
        <p:grpSpPr>
          <a:xfrm>
            <a:off x="6974158" y="974192"/>
            <a:ext cx="1799684" cy="520496"/>
            <a:chOff x="4990288" y="1782720"/>
            <a:chExt cx="1799684" cy="520496"/>
          </a:xfrm>
        </p:grpSpPr>
        <p:pic>
          <p:nvPicPr>
            <p:cNvPr id="8" name="Picture 7">
              <a:extLst>
                <a:ext uri="{FF2B5EF4-FFF2-40B4-BE49-F238E27FC236}">
                  <a16:creationId xmlns:a16="http://schemas.microsoft.com/office/drawing/2014/main" id="{9138E342-C826-4674-9A13-CE9AC70D120F}"/>
                </a:ext>
              </a:extLst>
            </p:cNvPr>
            <p:cNvPicPr>
              <a:picLocks noChangeAspect="1"/>
            </p:cNvPicPr>
            <p:nvPr/>
          </p:nvPicPr>
          <p:blipFill>
            <a:blip r:embed="rId3"/>
            <a:stretch>
              <a:fillRect/>
            </a:stretch>
          </p:blipFill>
          <p:spPr>
            <a:xfrm>
              <a:off x="4990288" y="1782720"/>
              <a:ext cx="520496" cy="520496"/>
            </a:xfrm>
            <a:prstGeom prst="rect">
              <a:avLst/>
            </a:prstGeom>
          </p:spPr>
        </p:pic>
        <p:sp>
          <p:nvSpPr>
            <p:cNvPr id="9" name="TextBox 11">
              <a:extLst>
                <a:ext uri="{FF2B5EF4-FFF2-40B4-BE49-F238E27FC236}">
                  <a16:creationId xmlns:a16="http://schemas.microsoft.com/office/drawing/2014/main" id="{796A52B8-5099-4B1B-83C9-3818EE103ED2}"/>
                </a:ext>
              </a:extLst>
            </p:cNvPr>
            <p:cNvSpPr txBox="1"/>
            <p:nvPr/>
          </p:nvSpPr>
          <p:spPr>
            <a:xfrm flipH="1">
              <a:off x="5510784" y="1858302"/>
              <a:ext cx="1279188" cy="369332"/>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800" b="1" dirty="0">
                  <a:solidFill>
                    <a:schemeClr val="tx1">
                      <a:lumMod val="50000"/>
                      <a:lumOff val="50000"/>
                    </a:schemeClr>
                  </a:solidFill>
                </a:rPr>
                <a:t>Insights</a:t>
              </a:r>
            </a:p>
          </p:txBody>
        </p:sp>
      </p:grpSp>
      <p:sp>
        <p:nvSpPr>
          <p:cNvPr id="10" name="Google Shape;249;g21197e7cf6e_0_97">
            <a:extLst>
              <a:ext uri="{FF2B5EF4-FFF2-40B4-BE49-F238E27FC236}">
                <a16:creationId xmlns:a16="http://schemas.microsoft.com/office/drawing/2014/main" id="{AF6221D3-E4CE-A740-697B-493EFEE6C696}"/>
              </a:ext>
            </a:extLst>
          </p:cNvPr>
          <p:cNvSpPr/>
          <p:nvPr/>
        </p:nvSpPr>
        <p:spPr>
          <a:xfrm>
            <a:off x="6974158" y="1825801"/>
            <a:ext cx="5217842" cy="3254199"/>
          </a:xfrm>
          <a:prstGeom prst="rect">
            <a:avLst/>
          </a:prstGeom>
          <a:solidFill>
            <a:schemeClr val="lt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R="0" lvl="0" rtl="0">
              <a:lnSpc>
                <a:spcPct val="100000"/>
              </a:lnSpc>
              <a:spcBef>
                <a:spcPts val="0"/>
              </a:spcBef>
              <a:spcAft>
                <a:spcPts val="0"/>
              </a:spcAft>
              <a:buClr>
                <a:srgbClr val="000000"/>
              </a:buClr>
              <a:buSzPts val="1800"/>
            </a:pPr>
            <a:endParaRPr lang="en-GB" sz="1600" dirty="0">
              <a:latin typeface="Poppins" panose="020B0604020202020204" charset="0"/>
              <a:cs typeface="Poppins" panose="020B0604020202020204" charset="0"/>
            </a:endParaRPr>
          </a:p>
          <a:p>
            <a:pPr marL="285750" indent="-285750">
              <a:lnSpc>
                <a:spcPct val="150000"/>
              </a:lnSpc>
              <a:buSzPts val="1800"/>
              <a:buFont typeface="Arial" panose="020B0604020202020204" pitchFamily="34" charset="0"/>
              <a:buChar char="•"/>
            </a:pPr>
            <a:r>
              <a:rPr lang="en-US" sz="1600" dirty="0">
                <a:latin typeface="Poppins" panose="020B0604020202020204" charset="0"/>
                <a:cs typeface="Poppins" panose="020B0604020202020204" charset="0"/>
              </a:rPr>
              <a:t>Strong margins: Most accounts show steady margins of 35–40%, proving good pricing and cost control.</a:t>
            </a:r>
          </a:p>
          <a:p>
            <a:pPr marL="285750" indent="-285750">
              <a:lnSpc>
                <a:spcPct val="150000"/>
              </a:lnSpc>
              <a:buSzPts val="1800"/>
              <a:buFont typeface="Arial" panose="020B0604020202020204" pitchFamily="34" charset="0"/>
              <a:buChar char="•"/>
            </a:pPr>
            <a:r>
              <a:rPr lang="en-US" sz="1600" dirty="0">
                <a:latin typeface="Poppins" panose="020B0604020202020204" charset="0"/>
                <a:cs typeface="Poppins" panose="020B0604020202020204" charset="0"/>
              </a:rPr>
              <a:t>Discounting issue: Large clients (&gt;$10M) with margins below 36% may be getting too many discounts — their terms should be reviewed.</a:t>
            </a:r>
          </a:p>
          <a:p>
            <a:pPr marL="285750" indent="-285750">
              <a:lnSpc>
                <a:spcPct val="150000"/>
              </a:lnSpc>
              <a:buSzPts val="1800"/>
              <a:buFont typeface="Arial" panose="020B0604020202020204" pitchFamily="34" charset="0"/>
              <a:buChar char="•"/>
            </a:pPr>
            <a:r>
              <a:rPr lang="en-US" sz="1600" dirty="0">
                <a:latin typeface="Poppins" panose="020B0604020202020204" charset="0"/>
                <a:cs typeface="Poppins" panose="020B0604020202020204" charset="0"/>
              </a:rPr>
              <a:t>Upsell potential: Mid-size clients ($6–9M) with margins above 40% are valuable targets for upselling.</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p:txBody>
      </p:sp>
    </p:spTree>
    <p:extLst>
      <p:ext uri="{BB962C8B-B14F-4D97-AF65-F5344CB8AC3E}">
        <p14:creationId xmlns:p14="http://schemas.microsoft.com/office/powerpoint/2010/main" val="9264854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57;g21197e7cf6e_0_97">
            <a:extLst>
              <a:ext uri="{FF2B5EF4-FFF2-40B4-BE49-F238E27FC236}">
                <a16:creationId xmlns:a16="http://schemas.microsoft.com/office/drawing/2014/main" id="{930A99F3-207D-43B4-9CC7-150443490A66}"/>
              </a:ext>
            </a:extLst>
          </p:cNvPr>
          <p:cNvSpPr txBox="1">
            <a:spLocks/>
          </p:cNvSpPr>
          <p:nvPr/>
        </p:nvSpPr>
        <p:spPr>
          <a:xfrm>
            <a:off x="225966" y="358298"/>
            <a:ext cx="8813987"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dirty="0">
                <a:solidFill>
                  <a:schemeClr val="tx1">
                    <a:lumMod val="75000"/>
                    <a:lumOff val="25000"/>
                  </a:schemeClr>
                </a:solidFill>
              </a:rPr>
              <a:t>Correlation Heatmap of Numeric Features</a:t>
            </a:r>
          </a:p>
        </p:txBody>
      </p:sp>
      <p:pic>
        <p:nvPicPr>
          <p:cNvPr id="6" name="Picture 5">
            <a:extLst>
              <a:ext uri="{FF2B5EF4-FFF2-40B4-BE49-F238E27FC236}">
                <a16:creationId xmlns:a16="http://schemas.microsoft.com/office/drawing/2014/main" id="{36F7E42B-D58E-723B-491F-54FB6FE1AD21}"/>
              </a:ext>
            </a:extLst>
          </p:cNvPr>
          <p:cNvPicPr>
            <a:picLocks noChangeAspect="1"/>
          </p:cNvPicPr>
          <p:nvPr/>
        </p:nvPicPr>
        <p:blipFill>
          <a:blip r:embed="rId2"/>
          <a:stretch>
            <a:fillRect/>
          </a:stretch>
        </p:blipFill>
        <p:spPr>
          <a:xfrm>
            <a:off x="225966" y="1205788"/>
            <a:ext cx="5362034" cy="4046932"/>
          </a:xfrm>
          <a:prstGeom prst="rect">
            <a:avLst/>
          </a:prstGeom>
        </p:spPr>
      </p:pic>
      <p:grpSp>
        <p:nvGrpSpPr>
          <p:cNvPr id="7" name="Group 6">
            <a:extLst>
              <a:ext uri="{FF2B5EF4-FFF2-40B4-BE49-F238E27FC236}">
                <a16:creationId xmlns:a16="http://schemas.microsoft.com/office/drawing/2014/main" id="{870D0C5A-2E0A-43BA-9EB1-CACEBF500ACA}"/>
              </a:ext>
            </a:extLst>
          </p:cNvPr>
          <p:cNvGrpSpPr/>
          <p:nvPr/>
        </p:nvGrpSpPr>
        <p:grpSpPr>
          <a:xfrm>
            <a:off x="5968318" y="1205788"/>
            <a:ext cx="1799684" cy="520496"/>
            <a:chOff x="4990288" y="1782720"/>
            <a:chExt cx="1799684" cy="520496"/>
          </a:xfrm>
        </p:grpSpPr>
        <p:pic>
          <p:nvPicPr>
            <p:cNvPr id="8" name="Picture 7">
              <a:extLst>
                <a:ext uri="{FF2B5EF4-FFF2-40B4-BE49-F238E27FC236}">
                  <a16:creationId xmlns:a16="http://schemas.microsoft.com/office/drawing/2014/main" id="{C04FD692-7C1E-426B-A1A9-D42082D36522}"/>
                </a:ext>
              </a:extLst>
            </p:cNvPr>
            <p:cNvPicPr>
              <a:picLocks noChangeAspect="1"/>
            </p:cNvPicPr>
            <p:nvPr/>
          </p:nvPicPr>
          <p:blipFill>
            <a:blip r:embed="rId3"/>
            <a:stretch>
              <a:fillRect/>
            </a:stretch>
          </p:blipFill>
          <p:spPr>
            <a:xfrm>
              <a:off x="4990288" y="1782720"/>
              <a:ext cx="520496" cy="520496"/>
            </a:xfrm>
            <a:prstGeom prst="rect">
              <a:avLst/>
            </a:prstGeom>
          </p:spPr>
        </p:pic>
        <p:sp>
          <p:nvSpPr>
            <p:cNvPr id="9" name="TextBox 11">
              <a:extLst>
                <a:ext uri="{FF2B5EF4-FFF2-40B4-BE49-F238E27FC236}">
                  <a16:creationId xmlns:a16="http://schemas.microsoft.com/office/drawing/2014/main" id="{738E0E32-AD2E-402F-B026-4576898C4118}"/>
                </a:ext>
              </a:extLst>
            </p:cNvPr>
            <p:cNvSpPr txBox="1"/>
            <p:nvPr/>
          </p:nvSpPr>
          <p:spPr>
            <a:xfrm flipH="1">
              <a:off x="5510784" y="1858302"/>
              <a:ext cx="1279188" cy="369332"/>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800" b="1" dirty="0">
                  <a:solidFill>
                    <a:schemeClr val="tx1">
                      <a:lumMod val="50000"/>
                      <a:lumOff val="50000"/>
                    </a:schemeClr>
                  </a:solidFill>
                </a:rPr>
                <a:t>Insights</a:t>
              </a:r>
            </a:p>
          </p:txBody>
        </p:sp>
      </p:grpSp>
      <p:sp>
        <p:nvSpPr>
          <p:cNvPr id="10" name="Google Shape;249;g21197e7cf6e_0_97">
            <a:extLst>
              <a:ext uri="{FF2B5EF4-FFF2-40B4-BE49-F238E27FC236}">
                <a16:creationId xmlns:a16="http://schemas.microsoft.com/office/drawing/2014/main" id="{3254994A-D0DA-76DE-BF0C-0147C9D8C952}"/>
              </a:ext>
            </a:extLst>
          </p:cNvPr>
          <p:cNvSpPr/>
          <p:nvPr/>
        </p:nvSpPr>
        <p:spPr>
          <a:xfrm>
            <a:off x="6488814" y="2853750"/>
            <a:ext cx="5027323" cy="2722880"/>
          </a:xfrm>
          <a:prstGeom prst="rect">
            <a:avLst/>
          </a:prstGeom>
          <a:solidFill>
            <a:schemeClr val="lt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R="0" lvl="0" rtl="0">
              <a:lnSpc>
                <a:spcPct val="150000"/>
              </a:lnSpc>
              <a:spcBef>
                <a:spcPts val="0"/>
              </a:spcBef>
              <a:spcAft>
                <a:spcPts val="0"/>
              </a:spcAft>
              <a:buClr>
                <a:srgbClr val="000000"/>
              </a:buClr>
              <a:buSzPts val="1800"/>
            </a:pPr>
            <a:endParaRPr lang="en-GB" sz="1600" dirty="0">
              <a:effectLst/>
              <a:latin typeface="Poppins" panose="020B0604020202020204" charset="0"/>
              <a:cs typeface="Poppins" panose="020B0604020202020204" charset="0"/>
            </a:endParaRPr>
          </a:p>
          <a:p>
            <a:pPr marL="342900" indent="-342900">
              <a:lnSpc>
                <a:spcPct val="150000"/>
              </a:lnSpc>
              <a:buSzPts val="1800"/>
              <a:buFont typeface="Arial" panose="020B0604020202020204" pitchFamily="34" charset="0"/>
              <a:buChar char="•"/>
            </a:pPr>
            <a:r>
              <a:rPr lang="en-US" sz="1600" dirty="0">
                <a:latin typeface="Poppins" panose="020B0604020202020204" charset="0"/>
                <a:cs typeface="Poppins" panose="020B0604020202020204" charset="0"/>
              </a:rPr>
              <a:t>Unit price matters most: It strongly connects with cost (0.94), revenue (0.91), and profit (0.79).</a:t>
            </a:r>
          </a:p>
          <a:p>
            <a:pPr marL="342900" indent="-342900">
              <a:lnSpc>
                <a:spcPct val="150000"/>
              </a:lnSpc>
              <a:buSzPts val="1800"/>
              <a:buFont typeface="Arial" panose="020B0604020202020204" pitchFamily="34" charset="0"/>
              <a:buChar char="•"/>
            </a:pPr>
            <a:r>
              <a:rPr lang="en-US" sz="1600" dirty="0">
                <a:latin typeface="Poppins" panose="020B0604020202020204" charset="0"/>
                <a:cs typeface="Poppins" panose="020B0604020202020204" charset="0"/>
              </a:rPr>
              <a:t>Revenue and profit go hand-in-hand: Their high link (0.87) shows that more revenue directly boosts profitability.</a:t>
            </a:r>
          </a:p>
          <a:p>
            <a:pPr marL="342900" indent="-342900">
              <a:lnSpc>
                <a:spcPct val="150000"/>
              </a:lnSpc>
              <a:buSzPts val="1800"/>
              <a:buFont typeface="Arial" panose="020B0604020202020204" pitchFamily="34" charset="0"/>
              <a:buChar char="•"/>
            </a:pPr>
            <a:r>
              <a:rPr lang="en-US" sz="1600" dirty="0">
                <a:latin typeface="Poppins" panose="020B0604020202020204" charset="0"/>
                <a:cs typeface="Poppins" panose="020B0604020202020204" charset="0"/>
              </a:rPr>
              <a:t>Quantity has little effect: With correlations ≤0.34, sales volume plays only a minor role compared to pricing.</a:t>
            </a:r>
          </a:p>
          <a:p>
            <a:pPr marL="342900" indent="-342900">
              <a:lnSpc>
                <a:spcPct val="150000"/>
              </a:lnSpc>
              <a:buSzPts val="1800"/>
              <a:buFont typeface="Arial" panose="020B0604020202020204" pitchFamily="34" charset="0"/>
              <a:buChar char="•"/>
            </a:pPr>
            <a:r>
              <a:rPr lang="en-US" sz="1600" dirty="0">
                <a:latin typeface="Poppins" panose="020B0604020202020204" charset="0"/>
                <a:cs typeface="Poppins" panose="020B0604020202020204" charset="0"/>
              </a:rPr>
              <a:t>Cost vs. profit is moderate: At 0.58, this suggests that improving margins should focus mainly on pricing strategy.</a:t>
            </a:r>
          </a:p>
          <a:p>
            <a:pPr>
              <a:lnSpc>
                <a:spcPct val="150000"/>
              </a:lnSpc>
              <a:buSzPts val="1800"/>
            </a:pPr>
            <a:endParaRPr lang="en-US" sz="1600" dirty="0">
              <a:latin typeface="Poppins" panose="020B0604020202020204" charset="0"/>
              <a:cs typeface="Poppins" panose="020B0604020202020204" charset="0"/>
            </a:endParaRPr>
          </a:p>
          <a:p>
            <a:pPr marL="342900" marR="0" lvl="0" indent="-342900" rtl="0">
              <a:lnSpc>
                <a:spcPct val="150000"/>
              </a:lnSpc>
              <a:spcBef>
                <a:spcPts val="0"/>
              </a:spcBef>
              <a:spcAft>
                <a:spcPts val="0"/>
              </a:spcAft>
              <a:buClr>
                <a:srgbClr val="000000"/>
              </a:buClr>
              <a:buSzPts val="1800"/>
              <a:buFont typeface="Arial" panose="020B0604020202020204" pitchFamily="34" charset="0"/>
              <a:buChar char="•"/>
            </a:pPr>
            <a:endParaRPr lang="en-GB" sz="1600" b="0" i="0" u="none" strike="noStrike" cap="none" dirty="0">
              <a:solidFill>
                <a:schemeClr val="lt1"/>
              </a:solidFill>
              <a:latin typeface="Poppins" panose="020B0604020202020204" charset="0"/>
              <a:ea typeface="Poppins"/>
              <a:cs typeface="Poppins" panose="020B0604020202020204" charset="0"/>
              <a:sym typeface="Poppins"/>
            </a:endParaRPr>
          </a:p>
        </p:txBody>
      </p:sp>
    </p:spTree>
    <p:extLst>
      <p:ext uri="{BB962C8B-B14F-4D97-AF65-F5344CB8AC3E}">
        <p14:creationId xmlns:p14="http://schemas.microsoft.com/office/powerpoint/2010/main" val="26421344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9">
            <a:extLst>
              <a:ext uri="{FF2B5EF4-FFF2-40B4-BE49-F238E27FC236}">
                <a16:creationId xmlns:a16="http://schemas.microsoft.com/office/drawing/2014/main" id="{C2890132-0527-4A5E-83E8-2C03B1F118FF}"/>
              </a:ext>
            </a:extLst>
          </p:cNvPr>
          <p:cNvSpPr txBox="1"/>
          <p:nvPr/>
        </p:nvSpPr>
        <p:spPr>
          <a:xfrm>
            <a:off x="3781854" y="291812"/>
            <a:ext cx="2935321" cy="584775"/>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0" lang="en-IN" sz="3200" b="1" i="0" u="none" strike="noStrike" kern="0" cap="none" spc="0" normalizeH="0" baseline="0" noProof="0" dirty="0">
                <a:ln>
                  <a:noFill/>
                </a:ln>
                <a:solidFill>
                  <a:schemeClr val="tx1"/>
                </a:solidFill>
                <a:effectLst/>
                <a:uLnTx/>
                <a:uFillTx/>
                <a:latin typeface="Poppins"/>
                <a:cs typeface="Poppins"/>
                <a:sym typeface="Poppins"/>
              </a:rPr>
              <a:t>Key</a:t>
            </a:r>
            <a:r>
              <a:rPr kumimoji="0" lang="en-IN" sz="3200" b="1" i="0" u="none" strike="noStrike" kern="0" cap="none" spc="0" normalizeH="0" baseline="0" noProof="0" dirty="0">
                <a:ln>
                  <a:noFill/>
                </a:ln>
                <a:solidFill>
                  <a:srgbClr val="000000">
                    <a:lumMod val="65000"/>
                    <a:lumOff val="35000"/>
                  </a:srgbClr>
                </a:solidFill>
                <a:effectLst/>
                <a:uLnTx/>
                <a:uFillTx/>
                <a:latin typeface="Poppins"/>
                <a:cs typeface="Poppins"/>
                <a:sym typeface="Poppins"/>
              </a:rPr>
              <a:t> </a:t>
            </a:r>
            <a:r>
              <a:rPr kumimoji="0" lang="en-IN" sz="3200" b="1" i="0" u="none" strike="noStrike" kern="0" cap="none" spc="0" normalizeH="0" baseline="0" noProof="0" dirty="0">
                <a:ln>
                  <a:noFill/>
                </a:ln>
                <a:solidFill>
                  <a:schemeClr val="tx1"/>
                </a:solidFill>
                <a:effectLst/>
                <a:uLnTx/>
                <a:uFillTx/>
                <a:latin typeface="Poppins"/>
                <a:cs typeface="Poppins"/>
                <a:sym typeface="Poppins"/>
              </a:rPr>
              <a:t>Insights</a:t>
            </a:r>
            <a:endParaRPr lang="en-IN" dirty="0">
              <a:solidFill>
                <a:schemeClr val="tx1"/>
              </a:solidFill>
            </a:endParaRPr>
          </a:p>
        </p:txBody>
      </p:sp>
      <p:pic>
        <p:nvPicPr>
          <p:cNvPr id="5" name="Picture 4">
            <a:extLst>
              <a:ext uri="{FF2B5EF4-FFF2-40B4-BE49-F238E27FC236}">
                <a16:creationId xmlns:a16="http://schemas.microsoft.com/office/drawing/2014/main" id="{6F5CE90D-841B-42FE-80FE-A63ABB2897FF}"/>
              </a:ext>
            </a:extLst>
          </p:cNvPr>
          <p:cNvPicPr>
            <a:picLocks noChangeAspect="1"/>
          </p:cNvPicPr>
          <p:nvPr/>
        </p:nvPicPr>
        <p:blipFill>
          <a:blip r:embed="rId2"/>
          <a:stretch>
            <a:fillRect/>
          </a:stretch>
        </p:blipFill>
        <p:spPr>
          <a:xfrm>
            <a:off x="6639155" y="291812"/>
            <a:ext cx="622911" cy="517347"/>
          </a:xfrm>
          <a:prstGeom prst="rect">
            <a:avLst/>
          </a:prstGeom>
        </p:spPr>
      </p:pic>
      <p:sp>
        <p:nvSpPr>
          <p:cNvPr id="9" name="Rectangle 5">
            <a:extLst>
              <a:ext uri="{FF2B5EF4-FFF2-40B4-BE49-F238E27FC236}">
                <a16:creationId xmlns:a16="http://schemas.microsoft.com/office/drawing/2014/main" id="{D2E9BA8A-2B09-571C-EF36-03DEFAD78415}"/>
              </a:ext>
            </a:extLst>
          </p:cNvPr>
          <p:cNvSpPr>
            <a:spLocks noChangeArrowheads="1"/>
          </p:cNvSpPr>
          <p:nvPr/>
        </p:nvSpPr>
        <p:spPr bwMode="auto">
          <a:xfrm>
            <a:off x="0" y="29972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8" name="Picture 2">
            <a:extLst>
              <a:ext uri="{FF2B5EF4-FFF2-40B4-BE49-F238E27FC236}">
                <a16:creationId xmlns:a16="http://schemas.microsoft.com/office/drawing/2014/main" id="{BD77FB5B-17CA-7768-7CDB-5F0D83DDF0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454400"/>
            <a:ext cx="12700" cy="1270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6">
            <a:extLst>
              <a:ext uri="{FF2B5EF4-FFF2-40B4-BE49-F238E27FC236}">
                <a16:creationId xmlns:a16="http://schemas.microsoft.com/office/drawing/2014/main" id="{1E17564B-7017-02C3-2639-2F245064BC8A}"/>
              </a:ext>
            </a:extLst>
          </p:cNvPr>
          <p:cNvSpPr>
            <a:spLocks noChangeArrowheads="1"/>
          </p:cNvSpPr>
          <p:nvPr/>
        </p:nvSpPr>
        <p:spPr bwMode="auto">
          <a:xfrm>
            <a:off x="1" y="994315"/>
            <a:ext cx="12192000" cy="52981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Poppins" panose="00000500000000000000" pitchFamily="2" charset="0"/>
                <a:ea typeface="Calibri" panose="020F0502020204030204" pitchFamily="34" charset="0"/>
                <a:cs typeface="Poppins" panose="00000500000000000000" pitchFamily="2" charset="0"/>
              </a:rPr>
              <a:t>Seasonality: Sales show clear seasonal patterns — January averages $124M, while April dips to $95M.</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050" b="0"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Poppins" panose="00000500000000000000" pitchFamily="2" charset="0"/>
                <a:ea typeface="Calibri" panose="020F0502020204030204" pitchFamily="34" charset="0"/>
                <a:cs typeface="Poppins" panose="00000500000000000000" pitchFamily="2" charset="0"/>
              </a:rPr>
              <a:t>SKU Concentration: Just two products (26 &amp; 25) together contribute about 25% of total sales.</a:t>
            </a:r>
          </a:p>
          <a:p>
            <a:pPr marR="0" lvl="0" algn="l" defTabSz="914400" rtl="0" eaLnBrk="0" fontAlgn="base" latinLnBrk="0" hangingPunct="0">
              <a:lnSpc>
                <a:spcPct val="15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Poppins" panose="00000500000000000000" pitchFamily="2" charset="0"/>
              <a:ea typeface="Calibri" panose="020F0502020204030204" pitchFamily="34" charset="0"/>
              <a:cs typeface="Poppins" panose="00000500000000000000" pitchFamily="2"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Poppins" panose="00000500000000000000" pitchFamily="2" charset="0"/>
                <a:ea typeface="Calibri" panose="020F0502020204030204" pitchFamily="34" charset="0"/>
                <a:cs typeface="Poppins" panose="00000500000000000000" pitchFamily="2" charset="0"/>
              </a:rPr>
              <a:t>Channel Trade‑off: </a:t>
            </a:r>
            <a:endParaRPr kumimoji="0" lang="en-US" altLang="en-US" sz="1050" b="0"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Poppins" panose="00000500000000000000" pitchFamily="2" charset="0"/>
                <a:ea typeface="Calibri" panose="020F0502020204030204" pitchFamily="34" charset="0"/>
                <a:cs typeface="Poppins" panose="00000500000000000000" pitchFamily="2" charset="0"/>
              </a:rPr>
              <a:t>Wholesale dominates with 54% of sales volume.</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Poppins" panose="00000500000000000000" pitchFamily="2" charset="0"/>
                <a:ea typeface="Calibri" panose="020F0502020204030204" pitchFamily="34" charset="0"/>
                <a:cs typeface="Poppins" panose="00000500000000000000" pitchFamily="2" charset="0"/>
              </a:rPr>
              <a:t>Export stands out for profitability, with an average margin of 38%.</a:t>
            </a:r>
          </a:p>
          <a:p>
            <a:pPr marL="457200" marR="0" lvl="1" indent="0" algn="l" defTabSz="914400" rtl="0" eaLnBrk="0" fontAlgn="base" latinLnBrk="0" hangingPunct="0">
              <a:lnSpc>
                <a:spcPct val="150000"/>
              </a:lnSpc>
              <a:spcBef>
                <a:spcPct val="0"/>
              </a:spcBef>
              <a:spcAft>
                <a:spcPct val="0"/>
              </a:spcAft>
              <a:buClrTx/>
              <a:buSzTx/>
              <a:tabLst/>
            </a:pPr>
            <a:endParaRPr kumimoji="0" lang="en-US" altLang="en-US" sz="1050" b="0"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Poppins" panose="00000500000000000000" pitchFamily="2" charset="0"/>
                <a:ea typeface="Calibri" panose="020F0502020204030204" pitchFamily="34" charset="0"/>
                <a:cs typeface="Poppins" panose="00000500000000000000" pitchFamily="2" charset="0"/>
              </a:rPr>
              <a:t>Geographic Dominance: </a:t>
            </a:r>
            <a:endParaRPr kumimoji="0" lang="en-US" altLang="en-US" sz="1050" b="0"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Poppins" panose="00000500000000000000" pitchFamily="2" charset="0"/>
                <a:ea typeface="Calibri" panose="020F0502020204030204" pitchFamily="34" charset="0"/>
                <a:cs typeface="Poppins" panose="00000500000000000000" pitchFamily="2" charset="0"/>
              </a:rPr>
              <a:t>California alone records 7.6K orders worth $230M.</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Poppins" panose="00000500000000000000" pitchFamily="2" charset="0"/>
                <a:ea typeface="Calibri" panose="020F0502020204030204" pitchFamily="34" charset="0"/>
                <a:cs typeface="Poppins" panose="00000500000000000000" pitchFamily="2" charset="0"/>
              </a:rPr>
              <a:t>The West region shows the biggest ups and downs in sales.</a:t>
            </a:r>
          </a:p>
          <a:p>
            <a:pPr marL="457200" marR="0" lvl="1" indent="0" algn="l" defTabSz="914400" rtl="0" eaLnBrk="0" fontAlgn="base" latinLnBrk="0" hangingPunct="0">
              <a:lnSpc>
                <a:spcPct val="150000"/>
              </a:lnSpc>
              <a:spcBef>
                <a:spcPct val="0"/>
              </a:spcBef>
              <a:spcAft>
                <a:spcPct val="0"/>
              </a:spcAft>
              <a:buClrTx/>
              <a:buSzTx/>
              <a:tabLst/>
            </a:pPr>
            <a:endParaRPr kumimoji="0" lang="en-US" altLang="en-US" sz="1050" b="0"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Poppins" panose="00000500000000000000" pitchFamily="2" charset="0"/>
                <a:ea typeface="Calibri" panose="020F0502020204030204" pitchFamily="34" charset="0"/>
                <a:cs typeface="Poppins" panose="00000500000000000000" pitchFamily="2" charset="0"/>
              </a:rPr>
              <a:t>Key Customers: </a:t>
            </a:r>
            <a:r>
              <a:rPr kumimoji="0" lang="en-US" altLang="en-US" b="0" i="0" u="none" strike="noStrike" cap="none" normalizeH="0" baseline="0" dirty="0" err="1">
                <a:ln>
                  <a:noFill/>
                </a:ln>
                <a:solidFill>
                  <a:schemeClr val="tx1"/>
                </a:solidFill>
                <a:effectLst/>
                <a:latin typeface="Poppins" panose="00000500000000000000" pitchFamily="2" charset="0"/>
                <a:ea typeface="Calibri" panose="020F0502020204030204" pitchFamily="34" charset="0"/>
                <a:cs typeface="Poppins" panose="00000500000000000000" pitchFamily="2" charset="0"/>
              </a:rPr>
              <a:t>Aibox</a:t>
            </a:r>
            <a:r>
              <a:rPr kumimoji="0" lang="en-US" altLang="en-US" b="0" i="0" u="none" strike="noStrike" cap="none" normalizeH="0" baseline="0" dirty="0">
                <a:ln>
                  <a:noFill/>
                </a:ln>
                <a:solidFill>
                  <a:schemeClr val="tx1"/>
                </a:solidFill>
                <a:effectLst/>
                <a:latin typeface="Poppins" panose="00000500000000000000" pitchFamily="2" charset="0"/>
                <a:ea typeface="Calibri" panose="020F0502020204030204" pitchFamily="34" charset="0"/>
                <a:cs typeface="Poppins" panose="00000500000000000000" pitchFamily="2" charset="0"/>
              </a:rPr>
              <a:t> Company and State Ltd are the most valuable clients in terms of revenue.</a:t>
            </a:r>
            <a:endParaRPr kumimoji="0" lang="en-US" altLang="en-US" sz="1050" b="0"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466617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049BF84-61CD-4A69-B85B-EC6567A488E3}"/>
              </a:ext>
            </a:extLst>
          </p:cNvPr>
          <p:cNvPicPr>
            <a:picLocks noChangeAspect="1"/>
          </p:cNvPicPr>
          <p:nvPr/>
        </p:nvPicPr>
        <p:blipFill>
          <a:blip r:embed="rId2"/>
          <a:stretch>
            <a:fillRect/>
          </a:stretch>
        </p:blipFill>
        <p:spPr>
          <a:xfrm>
            <a:off x="7537822" y="380000"/>
            <a:ext cx="449038" cy="449038"/>
          </a:xfrm>
          <a:prstGeom prst="rect">
            <a:avLst/>
          </a:prstGeom>
        </p:spPr>
      </p:pic>
      <p:sp>
        <p:nvSpPr>
          <p:cNvPr id="7" name="TextBox 14">
            <a:extLst>
              <a:ext uri="{FF2B5EF4-FFF2-40B4-BE49-F238E27FC236}">
                <a16:creationId xmlns:a16="http://schemas.microsoft.com/office/drawing/2014/main" id="{ED0C87C7-157B-16B5-0769-AEBC03EE9F24}"/>
              </a:ext>
            </a:extLst>
          </p:cNvPr>
          <p:cNvSpPr txBox="1"/>
          <p:nvPr/>
        </p:nvSpPr>
        <p:spPr>
          <a:xfrm>
            <a:off x="3307064" y="312132"/>
            <a:ext cx="4455277" cy="584775"/>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kumimoji="0" lang="en-IN" sz="3200" b="1" i="0" u="none" strike="noStrike" kern="0" cap="none" spc="0" normalizeH="0" baseline="0" noProof="0" dirty="0">
                <a:ln>
                  <a:noFill/>
                </a:ln>
                <a:solidFill>
                  <a:schemeClr val="tx1"/>
                </a:solidFill>
                <a:effectLst/>
                <a:uLnTx/>
                <a:uFillTx/>
                <a:latin typeface="Poppins"/>
                <a:cs typeface="Poppins"/>
                <a:sym typeface="Poppins"/>
              </a:rPr>
              <a:t>Recommendations</a:t>
            </a:r>
            <a:endParaRPr lang="en-IN" sz="3200" dirty="0">
              <a:solidFill>
                <a:schemeClr val="tx1"/>
              </a:solidFill>
            </a:endParaRPr>
          </a:p>
        </p:txBody>
      </p:sp>
      <p:sp>
        <p:nvSpPr>
          <p:cNvPr id="8" name="TextBox 7">
            <a:extLst>
              <a:ext uri="{FF2B5EF4-FFF2-40B4-BE49-F238E27FC236}">
                <a16:creationId xmlns:a16="http://schemas.microsoft.com/office/drawing/2014/main" id="{2E78C0E6-E39C-48C6-A8B1-C7670646DFC4}"/>
              </a:ext>
            </a:extLst>
          </p:cNvPr>
          <p:cNvSpPr txBox="1"/>
          <p:nvPr/>
        </p:nvSpPr>
        <p:spPr>
          <a:xfrm>
            <a:off x="769479" y="1118721"/>
            <a:ext cx="10172842" cy="5355312"/>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lvl="0" indent="-285750">
              <a:buFont typeface="Wingdings" panose="05000000000000000000" pitchFamily="2" charset="2"/>
              <a:buChar char="Ø"/>
            </a:pPr>
            <a:r>
              <a:rPr lang="en-US" sz="1800" dirty="0">
                <a:solidFill>
                  <a:schemeClr val="tx1"/>
                </a:solidFill>
                <a:latin typeface="Poppins" panose="00000500000000000000" pitchFamily="2" charset="0"/>
                <a:cs typeface="Poppins" panose="00000500000000000000" pitchFamily="2" charset="0"/>
              </a:rPr>
              <a:t>Seasonal Promotions:</a:t>
            </a:r>
          </a:p>
          <a:p>
            <a:pPr marL="742950" lvl="1" indent="-285750">
              <a:buFont typeface="Arial" panose="020B0604020202020204" pitchFamily="34" charset="0"/>
              <a:buChar char="•"/>
            </a:pPr>
            <a:r>
              <a:rPr lang="en-US" sz="1800" dirty="0">
                <a:solidFill>
                  <a:schemeClr val="tx1"/>
                </a:solidFill>
                <a:latin typeface="Poppins" panose="00000500000000000000" pitchFamily="2" charset="0"/>
                <a:cs typeface="Poppins" panose="00000500000000000000" pitchFamily="2" charset="0"/>
              </a:rPr>
              <a:t>Run recovery campaigns in April to lift sales.</a:t>
            </a:r>
          </a:p>
          <a:p>
            <a:pPr marL="742950" lvl="1" indent="-285750">
              <a:buFont typeface="Arial" panose="020B0604020202020204" pitchFamily="34" charset="0"/>
              <a:buChar char="•"/>
            </a:pPr>
            <a:r>
              <a:rPr lang="en-US" sz="1800" dirty="0">
                <a:solidFill>
                  <a:schemeClr val="tx1"/>
                </a:solidFill>
                <a:latin typeface="Poppins" panose="00000500000000000000" pitchFamily="2" charset="0"/>
                <a:cs typeface="Poppins" panose="00000500000000000000" pitchFamily="2" charset="0"/>
              </a:rPr>
              <a:t>Boost offers in January to balance seasonal revenue swings.</a:t>
            </a:r>
          </a:p>
          <a:p>
            <a:pPr lvl="1"/>
            <a:endParaRPr lang="en-US" sz="1800" dirty="0">
              <a:solidFill>
                <a:schemeClr val="tx1"/>
              </a:solidFill>
              <a:latin typeface="Poppins" panose="00000500000000000000" pitchFamily="2" charset="0"/>
              <a:cs typeface="Poppins" panose="00000500000000000000" pitchFamily="2" charset="0"/>
            </a:endParaRPr>
          </a:p>
          <a:p>
            <a:pPr marL="285750" lvl="0" indent="-285750">
              <a:buFont typeface="Wingdings" panose="05000000000000000000" pitchFamily="2" charset="2"/>
              <a:buChar char="Ø"/>
            </a:pPr>
            <a:r>
              <a:rPr lang="en-US" sz="1800" dirty="0">
                <a:solidFill>
                  <a:schemeClr val="tx1"/>
                </a:solidFill>
                <a:latin typeface="Poppins" panose="00000500000000000000" pitchFamily="2" charset="0"/>
                <a:cs typeface="Poppins" panose="00000500000000000000" pitchFamily="2" charset="0"/>
              </a:rPr>
              <a:t>SKU Optimization:</a:t>
            </a:r>
          </a:p>
          <a:p>
            <a:pPr marL="742950" lvl="1" indent="-285750">
              <a:buFont typeface="Arial" panose="020B0604020202020204" pitchFamily="34" charset="0"/>
              <a:buChar char="•"/>
            </a:pPr>
            <a:r>
              <a:rPr lang="en-US" sz="1800" dirty="0">
                <a:solidFill>
                  <a:schemeClr val="tx1"/>
                </a:solidFill>
                <a:latin typeface="Poppins" panose="00000500000000000000" pitchFamily="2" charset="0"/>
                <a:cs typeface="Poppins" panose="00000500000000000000" pitchFamily="2" charset="0"/>
              </a:rPr>
              <a:t>Focus more on Products 26 &amp; 25 (top sellers).</a:t>
            </a:r>
          </a:p>
          <a:p>
            <a:pPr marL="742950" lvl="1" indent="-285750">
              <a:buFont typeface="Arial" panose="020B0604020202020204" pitchFamily="34" charset="0"/>
              <a:buChar char="•"/>
            </a:pPr>
            <a:r>
              <a:rPr lang="en-US" sz="1800" dirty="0">
                <a:solidFill>
                  <a:schemeClr val="tx1"/>
                </a:solidFill>
                <a:latin typeface="Poppins" panose="00000500000000000000" pitchFamily="2" charset="0"/>
                <a:cs typeface="Poppins" panose="00000500000000000000" pitchFamily="2" charset="0"/>
              </a:rPr>
              <a:t>Re‑check pricing or consider phasing out low‑margin products.</a:t>
            </a:r>
          </a:p>
          <a:p>
            <a:pPr lvl="1"/>
            <a:endParaRPr lang="en-US" sz="1800" dirty="0">
              <a:solidFill>
                <a:schemeClr val="tx1"/>
              </a:solidFill>
              <a:latin typeface="Poppins" panose="00000500000000000000" pitchFamily="2" charset="0"/>
              <a:cs typeface="Poppins" panose="00000500000000000000" pitchFamily="2" charset="0"/>
            </a:endParaRPr>
          </a:p>
          <a:p>
            <a:pPr marL="285750" lvl="0" indent="-285750">
              <a:buFont typeface="Wingdings" panose="05000000000000000000" pitchFamily="2" charset="2"/>
              <a:buChar char="Ø"/>
            </a:pPr>
            <a:r>
              <a:rPr lang="en-US" sz="1800" dirty="0">
                <a:solidFill>
                  <a:schemeClr val="tx1"/>
                </a:solidFill>
                <a:latin typeface="Poppins" panose="00000500000000000000" pitchFamily="2" charset="0"/>
                <a:cs typeface="Poppins" panose="00000500000000000000" pitchFamily="2" charset="0"/>
              </a:rPr>
              <a:t>Channel Expansion:</a:t>
            </a:r>
          </a:p>
          <a:p>
            <a:pPr marL="742950" lvl="1" indent="-285750">
              <a:buFont typeface="Arial" panose="020B0604020202020204" pitchFamily="34" charset="0"/>
              <a:buChar char="•"/>
            </a:pPr>
            <a:r>
              <a:rPr lang="en-US" sz="1800" dirty="0">
                <a:solidFill>
                  <a:schemeClr val="tx1"/>
                </a:solidFill>
                <a:latin typeface="Poppins" panose="00000500000000000000" pitchFamily="2" charset="0"/>
                <a:cs typeface="Poppins" panose="00000500000000000000" pitchFamily="2" charset="0"/>
              </a:rPr>
              <a:t>Encourage Export partnerships to benefit from high margins.</a:t>
            </a:r>
          </a:p>
          <a:p>
            <a:pPr marL="742950" lvl="1" indent="-285750">
              <a:buFont typeface="Arial" panose="020B0604020202020204" pitchFamily="34" charset="0"/>
              <a:buChar char="•"/>
            </a:pPr>
            <a:r>
              <a:rPr lang="en-US" sz="1800" dirty="0">
                <a:solidFill>
                  <a:schemeClr val="tx1"/>
                </a:solidFill>
                <a:latin typeface="Poppins" panose="00000500000000000000" pitchFamily="2" charset="0"/>
                <a:cs typeface="Poppins" panose="00000500000000000000" pitchFamily="2" charset="0"/>
              </a:rPr>
              <a:t>Offer volume deals in Wholesale to strengthen sales.</a:t>
            </a:r>
          </a:p>
          <a:p>
            <a:pPr lvl="1"/>
            <a:endParaRPr lang="en-US" sz="1800" dirty="0">
              <a:solidFill>
                <a:schemeClr val="tx1"/>
              </a:solidFill>
              <a:latin typeface="Poppins" panose="00000500000000000000" pitchFamily="2" charset="0"/>
              <a:cs typeface="Poppins" panose="00000500000000000000" pitchFamily="2" charset="0"/>
            </a:endParaRPr>
          </a:p>
          <a:p>
            <a:pPr marL="285750" lvl="0" indent="-285750">
              <a:buFont typeface="Wingdings" panose="05000000000000000000" pitchFamily="2" charset="2"/>
              <a:buChar char="Ø"/>
            </a:pPr>
            <a:r>
              <a:rPr lang="en-US" sz="1800" dirty="0">
                <a:solidFill>
                  <a:schemeClr val="tx1"/>
                </a:solidFill>
                <a:latin typeface="Poppins" panose="00000500000000000000" pitchFamily="2" charset="0"/>
                <a:cs typeface="Poppins" panose="00000500000000000000" pitchFamily="2" charset="0"/>
              </a:rPr>
              <a:t>Regional Investment:</a:t>
            </a:r>
          </a:p>
          <a:p>
            <a:pPr marL="742950" lvl="1" indent="-285750">
              <a:buFont typeface="Arial" panose="020B0604020202020204" pitchFamily="34" charset="0"/>
              <a:buChar char="•"/>
            </a:pPr>
            <a:r>
              <a:rPr lang="en-US" sz="1800" dirty="0">
                <a:solidFill>
                  <a:schemeClr val="tx1"/>
                </a:solidFill>
                <a:latin typeface="Poppins" panose="00000500000000000000" pitchFamily="2" charset="0"/>
                <a:cs typeface="Poppins" panose="00000500000000000000" pitchFamily="2" charset="0"/>
              </a:rPr>
              <a:t>Replicate California’s success in other regions.</a:t>
            </a:r>
          </a:p>
          <a:p>
            <a:pPr marL="742950" lvl="1" indent="-285750">
              <a:buFont typeface="Arial" panose="020B0604020202020204" pitchFamily="34" charset="0"/>
              <a:buChar char="•"/>
            </a:pPr>
            <a:r>
              <a:rPr lang="en-US" sz="1800" dirty="0">
                <a:solidFill>
                  <a:schemeClr val="tx1"/>
                </a:solidFill>
                <a:latin typeface="Poppins" panose="00000500000000000000" pitchFamily="2" charset="0"/>
                <a:cs typeface="Poppins" panose="00000500000000000000" pitchFamily="2" charset="0"/>
              </a:rPr>
              <a:t>Increase marketing in the Northeast and Midwest to grow sales.</a:t>
            </a:r>
          </a:p>
          <a:p>
            <a:pPr lvl="1"/>
            <a:endParaRPr lang="en-US" sz="1800" dirty="0">
              <a:solidFill>
                <a:schemeClr val="tx1"/>
              </a:solidFill>
              <a:latin typeface="Poppins" panose="00000500000000000000" pitchFamily="2" charset="0"/>
              <a:cs typeface="Poppins" panose="00000500000000000000" pitchFamily="2" charset="0"/>
            </a:endParaRPr>
          </a:p>
          <a:p>
            <a:pPr marL="285750" lvl="0" indent="-285750">
              <a:buFont typeface="Wingdings" panose="05000000000000000000" pitchFamily="2" charset="2"/>
              <a:buChar char="Ø"/>
            </a:pPr>
            <a:r>
              <a:rPr lang="en-US" sz="1800" dirty="0">
                <a:solidFill>
                  <a:schemeClr val="tx1"/>
                </a:solidFill>
                <a:latin typeface="Poppins" panose="00000500000000000000" pitchFamily="2" charset="0"/>
                <a:cs typeface="Poppins" panose="00000500000000000000" pitchFamily="2" charset="0"/>
              </a:rPr>
              <a:t>Margin Monitoring:</a:t>
            </a:r>
          </a:p>
          <a:p>
            <a:pPr marL="742950" lvl="1" indent="-285750">
              <a:buFont typeface="Arial" panose="020B0604020202020204" pitchFamily="34" charset="0"/>
              <a:buChar char="•"/>
            </a:pPr>
            <a:r>
              <a:rPr lang="en-US" sz="1800" dirty="0">
                <a:solidFill>
                  <a:schemeClr val="tx1"/>
                </a:solidFill>
                <a:latin typeface="Poppins" panose="00000500000000000000" pitchFamily="2" charset="0"/>
                <a:cs typeface="Poppins" panose="00000500000000000000" pitchFamily="2" charset="0"/>
              </a:rPr>
              <a:t>Flag orders with margins below 80%.</a:t>
            </a:r>
          </a:p>
          <a:p>
            <a:pPr marL="742950" lvl="1" indent="-285750">
              <a:buFont typeface="Arial" panose="020B0604020202020204" pitchFamily="34" charset="0"/>
              <a:buChar char="•"/>
            </a:pPr>
            <a:r>
              <a:rPr lang="en-US" sz="1800" dirty="0">
                <a:solidFill>
                  <a:schemeClr val="tx1"/>
                </a:solidFill>
                <a:latin typeface="Poppins" panose="00000500000000000000" pitchFamily="2" charset="0"/>
                <a:cs typeface="Poppins" panose="00000500000000000000" pitchFamily="2" charset="0"/>
              </a:rPr>
              <a:t>Analyze cost drivers to improve weaker segments.</a:t>
            </a:r>
          </a:p>
        </p:txBody>
      </p:sp>
    </p:spTree>
    <p:extLst>
      <p:ext uri="{BB962C8B-B14F-4D97-AF65-F5344CB8AC3E}">
        <p14:creationId xmlns:p14="http://schemas.microsoft.com/office/powerpoint/2010/main" val="33567276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332;g21197e7cf6e_0_204">
            <a:extLst>
              <a:ext uri="{FF2B5EF4-FFF2-40B4-BE49-F238E27FC236}">
                <a16:creationId xmlns:a16="http://schemas.microsoft.com/office/drawing/2014/main" id="{D5B6FBBD-6183-F312-5C44-BD793BC4D14A}"/>
              </a:ext>
            </a:extLst>
          </p:cNvPr>
          <p:cNvSpPr txBox="1"/>
          <p:nvPr/>
        </p:nvSpPr>
        <p:spPr>
          <a:xfrm>
            <a:off x="0" y="0"/>
            <a:ext cx="12192000" cy="594009"/>
          </a:xfrm>
          <a:prstGeom prst="rect">
            <a:avLst/>
          </a:prstGeom>
          <a:solidFill>
            <a:schemeClr val="accent6">
              <a:lumMod val="20000"/>
              <a:lumOff val="80000"/>
            </a:schemeClr>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1">
              <a:lnSpc>
                <a:spcPct val="120000"/>
              </a:lnSpc>
              <a:spcAft>
                <a:spcPts val="600"/>
              </a:spcAft>
              <a:buSzPts val="1800"/>
            </a:pPr>
            <a:r>
              <a:rPr lang="en-US" sz="2800" b="1" i="0" u="none" strike="noStrike" cap="none" dirty="0">
                <a:solidFill>
                  <a:schemeClr val="tx1"/>
                </a:solidFill>
                <a:latin typeface="Poppins"/>
                <a:ea typeface="Poppins"/>
                <a:cs typeface="Poppins"/>
                <a:sym typeface="Poppins"/>
              </a:rPr>
              <a:t>Dashboard Preview</a:t>
            </a:r>
            <a:endParaRPr sz="2800" b="0" i="0" u="none" strike="noStrike" cap="none" dirty="0">
              <a:solidFill>
                <a:schemeClr val="tx1"/>
              </a:solidFill>
              <a:latin typeface="Poppins"/>
              <a:ea typeface="Poppins"/>
              <a:cs typeface="Poppins"/>
              <a:sym typeface="Poppins"/>
            </a:endParaRPr>
          </a:p>
        </p:txBody>
      </p:sp>
      <p:sp>
        <p:nvSpPr>
          <p:cNvPr id="6" name="Google Shape;257;g21197e7cf6e_0_97">
            <a:extLst>
              <a:ext uri="{FF2B5EF4-FFF2-40B4-BE49-F238E27FC236}">
                <a16:creationId xmlns:a16="http://schemas.microsoft.com/office/drawing/2014/main" id="{1C55A01C-843F-4AB1-832A-9588865749DE}"/>
              </a:ext>
            </a:extLst>
          </p:cNvPr>
          <p:cNvSpPr txBox="1">
            <a:spLocks noGrp="1"/>
          </p:cNvSpPr>
          <p:nvPr/>
        </p:nvSpPr>
        <p:spPr>
          <a:xfrm>
            <a:off x="-10159" y="693876"/>
            <a:ext cx="4389120" cy="430887"/>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Clr>
                <a:schemeClr val="dk1"/>
              </a:buClr>
              <a:buSzPts val="1800"/>
              <a:buNone/>
            </a:pPr>
            <a:r>
              <a:rPr lang="en-IN" dirty="0">
                <a:solidFill>
                  <a:schemeClr val="tx1">
                    <a:lumMod val="75000"/>
                    <a:lumOff val="25000"/>
                  </a:schemeClr>
                </a:solidFill>
              </a:rPr>
              <a:t> </a:t>
            </a:r>
            <a:r>
              <a:rPr lang="en-IN" b="0" dirty="0">
                <a:solidFill>
                  <a:schemeClr val="tx1">
                    <a:lumMod val="75000"/>
                    <a:lumOff val="25000"/>
                  </a:schemeClr>
                </a:solidFill>
                <a:effectLst/>
              </a:rPr>
              <a:t>Performance Summary</a:t>
            </a:r>
            <a:endParaRPr b="0" dirty="0">
              <a:solidFill>
                <a:schemeClr val="tx1">
                  <a:lumMod val="75000"/>
                  <a:lumOff val="25000"/>
                </a:schemeClr>
              </a:solidFill>
            </a:endParaRPr>
          </a:p>
        </p:txBody>
      </p:sp>
      <p:pic>
        <p:nvPicPr>
          <p:cNvPr id="10" name="Picture 9">
            <a:extLst>
              <a:ext uri="{FF2B5EF4-FFF2-40B4-BE49-F238E27FC236}">
                <a16:creationId xmlns:a16="http://schemas.microsoft.com/office/drawing/2014/main" id="{13FE0E54-09C9-BC3E-0B3C-355347818E4C}"/>
              </a:ext>
            </a:extLst>
          </p:cNvPr>
          <p:cNvPicPr>
            <a:picLocks noChangeAspect="1"/>
          </p:cNvPicPr>
          <p:nvPr/>
        </p:nvPicPr>
        <p:blipFill>
          <a:blip r:embed="rId2"/>
          <a:stretch>
            <a:fillRect/>
          </a:stretch>
        </p:blipFill>
        <p:spPr>
          <a:xfrm>
            <a:off x="1365837" y="1170937"/>
            <a:ext cx="9460326" cy="5412743"/>
          </a:xfrm>
          <a:prstGeom prst="rect">
            <a:avLst/>
          </a:prstGeom>
        </p:spPr>
      </p:pic>
    </p:spTree>
    <p:extLst>
      <p:ext uri="{BB962C8B-B14F-4D97-AF65-F5344CB8AC3E}">
        <p14:creationId xmlns:p14="http://schemas.microsoft.com/office/powerpoint/2010/main" val="41307817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57;g21197e7cf6e_0_97">
            <a:extLst>
              <a:ext uri="{FF2B5EF4-FFF2-40B4-BE49-F238E27FC236}">
                <a16:creationId xmlns:a16="http://schemas.microsoft.com/office/drawing/2014/main" id="{1C55A01C-843F-4AB1-832A-9588865749DE}"/>
              </a:ext>
            </a:extLst>
          </p:cNvPr>
          <p:cNvSpPr txBox="1">
            <a:spLocks noGrp="1"/>
          </p:cNvSpPr>
          <p:nvPr/>
        </p:nvSpPr>
        <p:spPr>
          <a:xfrm>
            <a:off x="58746" y="196036"/>
            <a:ext cx="9473547" cy="430887"/>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Clr>
                <a:schemeClr val="dk1"/>
              </a:buClr>
              <a:buSzPts val="1800"/>
              <a:buNone/>
            </a:pPr>
            <a:r>
              <a:rPr lang="en-IN" b="0" dirty="0">
                <a:solidFill>
                  <a:schemeClr val="tx1">
                    <a:lumMod val="75000"/>
                    <a:lumOff val="25000"/>
                  </a:schemeClr>
                </a:solidFill>
                <a:effectLst/>
              </a:rPr>
              <a:t>Customer Segmentation</a:t>
            </a:r>
            <a:endParaRPr b="0" dirty="0">
              <a:solidFill>
                <a:schemeClr val="tx1">
                  <a:lumMod val="75000"/>
                  <a:lumOff val="25000"/>
                </a:schemeClr>
              </a:solidFill>
            </a:endParaRPr>
          </a:p>
        </p:txBody>
      </p:sp>
      <p:pic>
        <p:nvPicPr>
          <p:cNvPr id="6" name="Picture 5">
            <a:extLst>
              <a:ext uri="{FF2B5EF4-FFF2-40B4-BE49-F238E27FC236}">
                <a16:creationId xmlns:a16="http://schemas.microsoft.com/office/drawing/2014/main" id="{C4732DBE-C5FF-5AA8-C7FF-242652930B61}"/>
              </a:ext>
            </a:extLst>
          </p:cNvPr>
          <p:cNvPicPr>
            <a:picLocks noChangeAspect="1"/>
          </p:cNvPicPr>
          <p:nvPr/>
        </p:nvPicPr>
        <p:blipFill>
          <a:blip r:embed="rId2"/>
          <a:stretch>
            <a:fillRect/>
          </a:stretch>
        </p:blipFill>
        <p:spPr>
          <a:xfrm>
            <a:off x="851696" y="739905"/>
            <a:ext cx="10590209" cy="6056639"/>
          </a:xfrm>
          <a:prstGeom prst="rect">
            <a:avLst/>
          </a:prstGeom>
        </p:spPr>
      </p:pic>
    </p:spTree>
    <p:extLst>
      <p:ext uri="{BB962C8B-B14F-4D97-AF65-F5344CB8AC3E}">
        <p14:creationId xmlns:p14="http://schemas.microsoft.com/office/powerpoint/2010/main" val="42684507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57;g21197e7cf6e_0_97">
            <a:extLst>
              <a:ext uri="{FF2B5EF4-FFF2-40B4-BE49-F238E27FC236}">
                <a16:creationId xmlns:a16="http://schemas.microsoft.com/office/drawing/2014/main" id="{1C55A01C-843F-4AB1-832A-9588865749DE}"/>
              </a:ext>
            </a:extLst>
          </p:cNvPr>
          <p:cNvSpPr txBox="1">
            <a:spLocks noGrp="1"/>
          </p:cNvSpPr>
          <p:nvPr/>
        </p:nvSpPr>
        <p:spPr>
          <a:xfrm>
            <a:off x="131884" y="124916"/>
            <a:ext cx="5527432" cy="430887"/>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Clr>
                <a:schemeClr val="dk1"/>
              </a:buClr>
              <a:buSzPts val="1800"/>
              <a:buNone/>
            </a:pPr>
            <a:r>
              <a:rPr lang="en-IN" b="0" dirty="0">
                <a:solidFill>
                  <a:schemeClr val="tx1">
                    <a:lumMod val="75000"/>
                    <a:lumOff val="25000"/>
                  </a:schemeClr>
                </a:solidFill>
              </a:rPr>
              <a:t>Revenue Scenarios</a:t>
            </a:r>
            <a:endParaRPr b="0" dirty="0">
              <a:solidFill>
                <a:schemeClr val="tx1">
                  <a:lumMod val="75000"/>
                  <a:lumOff val="25000"/>
                </a:schemeClr>
              </a:solidFill>
            </a:endParaRPr>
          </a:p>
        </p:txBody>
      </p:sp>
      <p:pic>
        <p:nvPicPr>
          <p:cNvPr id="6" name="Picture 5">
            <a:extLst>
              <a:ext uri="{FF2B5EF4-FFF2-40B4-BE49-F238E27FC236}">
                <a16:creationId xmlns:a16="http://schemas.microsoft.com/office/drawing/2014/main" id="{A587BD4A-2888-6353-5921-CCC40AAECCA5}"/>
              </a:ext>
            </a:extLst>
          </p:cNvPr>
          <p:cNvPicPr>
            <a:picLocks noChangeAspect="1"/>
          </p:cNvPicPr>
          <p:nvPr/>
        </p:nvPicPr>
        <p:blipFill>
          <a:blip r:embed="rId2"/>
          <a:stretch>
            <a:fillRect/>
          </a:stretch>
        </p:blipFill>
        <p:spPr>
          <a:xfrm>
            <a:off x="985364" y="663756"/>
            <a:ext cx="10200951" cy="5835289"/>
          </a:xfrm>
          <a:prstGeom prst="rect">
            <a:avLst/>
          </a:prstGeom>
        </p:spPr>
      </p:pic>
    </p:spTree>
    <p:extLst>
      <p:ext uri="{BB962C8B-B14F-4D97-AF65-F5344CB8AC3E}">
        <p14:creationId xmlns:p14="http://schemas.microsoft.com/office/powerpoint/2010/main" val="11775394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DECB025-957C-446A-AEFE-4D398A3F1C67}"/>
              </a:ext>
            </a:extLst>
          </p:cNvPr>
          <p:cNvPicPr>
            <a:picLocks noChangeAspect="1"/>
          </p:cNvPicPr>
          <p:nvPr/>
        </p:nvPicPr>
        <p:blipFill>
          <a:blip r:embed="rId2"/>
          <a:stretch>
            <a:fillRect/>
          </a:stretch>
        </p:blipFill>
        <p:spPr>
          <a:xfrm>
            <a:off x="6812348" y="188327"/>
            <a:ext cx="427972" cy="427972"/>
          </a:xfrm>
          <a:prstGeom prst="rect">
            <a:avLst/>
          </a:prstGeom>
        </p:spPr>
      </p:pic>
      <p:sp>
        <p:nvSpPr>
          <p:cNvPr id="8" name="TextBox 15">
            <a:extLst>
              <a:ext uri="{FF2B5EF4-FFF2-40B4-BE49-F238E27FC236}">
                <a16:creationId xmlns:a16="http://schemas.microsoft.com/office/drawing/2014/main" id="{949A4F80-588E-41BA-A9AE-5B43AC3CC4D8}"/>
              </a:ext>
            </a:extLst>
          </p:cNvPr>
          <p:cNvSpPr txBox="1"/>
          <p:nvPr/>
        </p:nvSpPr>
        <p:spPr>
          <a:xfrm>
            <a:off x="3976320" y="129252"/>
            <a:ext cx="2969377" cy="584775"/>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kumimoji="0" lang="en-IN" sz="3200" b="1" i="0" u="none" strike="noStrike" kern="0" cap="none" spc="0" normalizeH="0" baseline="0" noProof="0" dirty="0">
                <a:ln>
                  <a:noFill/>
                </a:ln>
                <a:solidFill>
                  <a:srgbClr val="000000">
                    <a:lumMod val="65000"/>
                    <a:lumOff val="35000"/>
                  </a:srgbClr>
                </a:solidFill>
                <a:effectLst/>
                <a:uLnTx/>
                <a:uFillTx/>
                <a:latin typeface="Poppins"/>
                <a:cs typeface="Poppins"/>
                <a:sym typeface="Poppins"/>
              </a:rPr>
              <a:t>Conclusions</a:t>
            </a:r>
            <a:endParaRPr lang="en-IN" sz="3200" dirty="0"/>
          </a:p>
        </p:txBody>
      </p:sp>
      <p:sp>
        <p:nvSpPr>
          <p:cNvPr id="9" name="TextBox 7">
            <a:extLst>
              <a:ext uri="{FF2B5EF4-FFF2-40B4-BE49-F238E27FC236}">
                <a16:creationId xmlns:a16="http://schemas.microsoft.com/office/drawing/2014/main" id="{2E78C0E6-E39C-48C6-A8B1-C7670646DFC4}"/>
              </a:ext>
            </a:extLst>
          </p:cNvPr>
          <p:cNvSpPr txBox="1"/>
          <p:nvPr/>
        </p:nvSpPr>
        <p:spPr>
          <a:xfrm>
            <a:off x="393559" y="1044287"/>
            <a:ext cx="10904361" cy="550920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lvl="0" indent="-342900">
              <a:buFont typeface="Courier New" panose="02070309020205020404" pitchFamily="49" charset="0"/>
              <a:buChar char="o"/>
            </a:pPr>
            <a:r>
              <a:rPr lang="en-US" sz="1600" dirty="0">
                <a:latin typeface="Poppins" panose="020B0604020202020204" charset="0"/>
                <a:cs typeface="Poppins" panose="020B0604020202020204" charset="0"/>
              </a:rPr>
              <a:t>Data Quality Assurance: The dataset was validated — no missing values or duplicate rows were found, ensuring reliable analysis.</a:t>
            </a:r>
          </a:p>
          <a:p>
            <a:pPr lvl="0"/>
            <a:endParaRPr lang="en-US" sz="1600" dirty="0">
              <a:latin typeface="Poppins" panose="020B0604020202020204" charset="0"/>
              <a:cs typeface="Poppins" panose="020B0604020202020204" charset="0"/>
            </a:endParaRPr>
          </a:p>
          <a:p>
            <a:pPr marL="342900" lvl="0" indent="-342900">
              <a:buFont typeface="Courier New" panose="02070309020205020404" pitchFamily="49" charset="0"/>
              <a:buChar char="o"/>
            </a:pPr>
            <a:r>
              <a:rPr lang="en-US" sz="1600" dirty="0">
                <a:latin typeface="Poppins" panose="020B0604020202020204" charset="0"/>
                <a:cs typeface="Poppins" panose="020B0604020202020204" charset="0"/>
              </a:rPr>
              <a:t>Profitability Metrics: New calculated fields (profit and profit margin %) provide deeper visibility into financial performance.</a:t>
            </a:r>
          </a:p>
          <a:p>
            <a:pPr lvl="0"/>
            <a:endParaRPr lang="en-US" sz="1600" dirty="0">
              <a:latin typeface="Poppins" panose="020B0604020202020204" charset="0"/>
              <a:cs typeface="Poppins" panose="020B0604020202020204" charset="0"/>
            </a:endParaRPr>
          </a:p>
          <a:p>
            <a:pPr marL="342900" lvl="0" indent="-342900">
              <a:buFont typeface="Courier New" panose="02070309020205020404" pitchFamily="49" charset="0"/>
              <a:buChar char="o"/>
            </a:pPr>
            <a:r>
              <a:rPr lang="en-US" sz="1600" dirty="0">
                <a:latin typeface="Poppins" panose="020B0604020202020204" charset="0"/>
                <a:cs typeface="Poppins" panose="020B0604020202020204" charset="0"/>
              </a:rPr>
              <a:t>Correlation Analysis: Strong links between unit price, revenue, and profit highlight pricing as the key driver of margins.</a:t>
            </a:r>
          </a:p>
          <a:p>
            <a:pPr lvl="0"/>
            <a:endParaRPr lang="en-US" sz="1600" dirty="0">
              <a:latin typeface="Poppins" panose="020B0604020202020204" charset="0"/>
              <a:cs typeface="Poppins" panose="020B0604020202020204" charset="0"/>
            </a:endParaRPr>
          </a:p>
          <a:p>
            <a:pPr marL="342900" lvl="0" indent="-342900">
              <a:buFont typeface="Courier New" panose="02070309020205020404" pitchFamily="49" charset="0"/>
              <a:buChar char="o"/>
            </a:pPr>
            <a:r>
              <a:rPr lang="en-US" sz="1600" dirty="0">
                <a:latin typeface="Poppins" panose="020B0604020202020204" charset="0"/>
                <a:cs typeface="Poppins" panose="020B0604020202020204" charset="0"/>
              </a:rPr>
              <a:t>Customer Segmentation: Identification of high‑value clients (&gt;$10M with low margins, $6–9M with high margins) supports targeted discount reviews and upsell strategies.</a:t>
            </a:r>
          </a:p>
          <a:p>
            <a:pPr lvl="0"/>
            <a:endParaRPr lang="en-US" sz="1600" dirty="0">
              <a:latin typeface="Poppins" panose="020B0604020202020204" charset="0"/>
              <a:cs typeface="Poppins" panose="020B0604020202020204" charset="0"/>
            </a:endParaRPr>
          </a:p>
          <a:p>
            <a:pPr marL="342900" lvl="0" indent="-342900">
              <a:buFont typeface="Courier New" panose="02070309020205020404" pitchFamily="49" charset="0"/>
              <a:buChar char="o"/>
            </a:pPr>
            <a:r>
              <a:rPr lang="en-US" sz="1600" dirty="0">
                <a:latin typeface="Poppins" panose="020B0604020202020204" charset="0"/>
                <a:cs typeface="Poppins" panose="020B0604020202020204" charset="0"/>
              </a:rPr>
              <a:t>Operational Efficiency: Insights guide smarter resource allocation across channels, regions, and product lines.</a:t>
            </a:r>
          </a:p>
          <a:p>
            <a:pPr lvl="0"/>
            <a:endParaRPr lang="en-US" sz="1600" dirty="0">
              <a:latin typeface="Poppins" panose="020B0604020202020204" charset="0"/>
              <a:cs typeface="Poppins" panose="020B0604020202020204" charset="0"/>
            </a:endParaRPr>
          </a:p>
          <a:p>
            <a:pPr marL="342900" lvl="0" indent="-342900">
              <a:buFont typeface="Courier New" panose="02070309020205020404" pitchFamily="49" charset="0"/>
              <a:buChar char="o"/>
            </a:pPr>
            <a:r>
              <a:rPr lang="en-US" sz="1600" dirty="0">
                <a:latin typeface="Poppins" panose="020B0604020202020204" charset="0"/>
                <a:cs typeface="Poppins" panose="020B0604020202020204" charset="0"/>
              </a:rPr>
              <a:t>Scalability: The framework allows seamless onboarding of new datasets, making the dashboard adaptable for future business needs.</a:t>
            </a:r>
          </a:p>
          <a:p>
            <a:pPr lvl="0"/>
            <a:endParaRPr lang="en-US" sz="1600" dirty="0">
              <a:latin typeface="Poppins" panose="020B0604020202020204" charset="0"/>
              <a:cs typeface="Poppins" panose="020B0604020202020204" charset="0"/>
            </a:endParaRPr>
          </a:p>
          <a:p>
            <a:pPr marL="342900" lvl="0" indent="-342900">
              <a:buFont typeface="Courier New" panose="02070309020205020404" pitchFamily="49" charset="0"/>
              <a:buChar char="o"/>
            </a:pPr>
            <a:r>
              <a:rPr lang="en-US" sz="1600" dirty="0">
                <a:latin typeface="Poppins" panose="020B0604020202020204" charset="0"/>
                <a:cs typeface="Poppins" panose="020B0604020202020204" charset="0"/>
              </a:rPr>
              <a:t>Strategic Impact: Findings directly inform sales policies, promotional timing, SKU optimization, and regional marketing investments.</a:t>
            </a:r>
          </a:p>
          <a:p>
            <a:r>
              <a:rPr lang="en-US" sz="1600" dirty="0">
                <a:latin typeface="Poppins" panose="020B0604020202020204" charset="0"/>
                <a:cs typeface="Poppins" panose="020B0604020202020204" charset="0"/>
              </a:rPr>
              <a:t> </a:t>
            </a:r>
          </a:p>
          <a:p>
            <a:endParaRPr lang="en-IN" sz="1600" dirty="0">
              <a:latin typeface="Poppins" panose="020B0604020202020204" charset="0"/>
              <a:cs typeface="Poppins" panose="020B0604020202020204" charset="0"/>
            </a:endParaRPr>
          </a:p>
        </p:txBody>
      </p:sp>
    </p:spTree>
    <p:extLst>
      <p:ext uri="{BB962C8B-B14F-4D97-AF65-F5344CB8AC3E}">
        <p14:creationId xmlns:p14="http://schemas.microsoft.com/office/powerpoint/2010/main" val="411865050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125</TotalTime>
  <Words>1618</Words>
  <Application>Microsoft Office PowerPoint</Application>
  <PresentationFormat>Widescreen</PresentationFormat>
  <Paragraphs>222</Paragraphs>
  <Slides>28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Calibri</vt:lpstr>
      <vt:lpstr>Calibri Light</vt:lpstr>
      <vt:lpstr>Courier New</vt:lpstr>
      <vt:lpstr>Poppins</vt:lpstr>
      <vt:lpstr>Symbol</vt:lpstr>
      <vt:lpstr>Wingdings</vt:lpstr>
      <vt:lpstr>Office Theme</vt:lpstr>
      <vt:lpstr>Regional Sales Analysis</vt:lpstr>
      <vt:lpstr>Outline</vt:lpstr>
      <vt:lpstr>Problem Statement</vt:lpstr>
      <vt:lpstr>Approach </vt:lpstr>
      <vt:lpstr>Project Workflow</vt:lpstr>
      <vt:lpstr>Raw Dataset Structure  –  Before Processing</vt:lpstr>
      <vt:lpstr>Exploratory Data Analysis (EDA) </vt:lpstr>
      <vt:lpstr>EDA: Step‑by‑Step Process</vt:lpstr>
      <vt:lpstr>Pre-processing &amp; Feature Engineering</vt:lpstr>
      <vt:lpstr>Final Dataset Structure – Ready for Analysis</vt:lpstr>
      <vt:lpstr>Charts &amp; Insights </vt:lpstr>
      <vt:lpstr>PowerPoint Presentation</vt:lpstr>
      <vt:lpstr>Top 10 Products by Revenue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Paras Rewariya</dc:creator>
  <cp:lastModifiedBy>Paras Rewariya</cp:lastModifiedBy>
  <cp:revision>2</cp:revision>
  <dcterms:created xsi:type="dcterms:W3CDTF">2026-03-18T03:44:34Z</dcterms:created>
  <dcterms:modified xsi:type="dcterms:W3CDTF">2026-03-18T05:49:53Z</dcterms:modified>
</cp:coreProperties>
</file>